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63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media/image16.svg" ContentType="image/svg"/>
  <Override PartName="/ppt/media/image18.svg" ContentType="image/svg"/>
  <Override PartName="/ppt/media/image30.svg" ContentType="image/svg"/>
  <Override PartName="/ppt/media/image20.svg" ContentType="image/svg"/>
  <Override PartName="/ppt/media/image22.svg" ContentType="image/svg"/>
  <Override PartName="/ppt/media/image24.svg" ContentType="image/svg"/>
  <Override PartName="/ppt/media/image26.svg" ContentType="image/svg"/>
  <Override PartName="/ppt/media/image28.svg" ContentType="image/svg"/>
  <Override PartName="/ppt/media/image32.svg" ContentType="image/svg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2" r:id="rId6"/>
    <p:sldMasterId id="2147483715" r:id="rId7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1879263" cy="6840538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37.xml"/><Relationship Id="rId6" Type="http://schemas.openxmlformats.org/officeDocument/2006/relationships/slideMaster" Target="slideMasters/slideMaster51.xml"/><Relationship Id="rId7" Type="http://schemas.openxmlformats.org/officeDocument/2006/relationships/slideMaster" Target="slideMasters/slideMaster63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4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5.jpeg"/><Relationship Id="rId3" Type="http://schemas.openxmlformats.org/officeDocument/2006/relationships/image" Target="../media/image4.png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3.png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<Relationship Id="rId2" Type="http://schemas.openxmlformats.org/officeDocument/2006/relationships/image" Target="../media/image4.png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3.png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<Relationship Id="rId2" Type="http://schemas.openxmlformats.org/officeDocument/2006/relationships/image" Target="../media/image6.png"/><Relationship Id="rId3" Type="http://schemas.openxmlformats.org/officeDocument/2006/relationships/image" Target="../media/image7.png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3.png"/><Relationship Id="rId9" Type="http://schemas.openxmlformats.org/officeDocument/2006/relationships/image" Target="../media/image3.png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3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5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6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2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Рисунок 3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Рисунок 12"/>
          <p:cNvPicPr/>
          <p:nvPr/>
        </p:nvPicPr>
        <p:blipFill>
          <a:blip r:embed="rId3"/>
          <a:stretch/>
        </p:blipFill>
        <p:spPr>
          <a:xfrm>
            <a:off x="32724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CustomShape 2"/>
          <p:cNvSpPr/>
          <p:nvPr/>
        </p:nvSpPr>
        <p:spPr>
          <a:xfrm>
            <a:off x="0" y="474480"/>
            <a:ext cx="139680" cy="20458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69840" tIns="45000" rIns="6984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7C1C67B-4404-4395-9614-FA23F8C2BB12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0230617-2B36-45BE-9450-D9EED0479D5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195BC5F-8F15-45FF-8150-D0200167876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64D8BEF-338B-4E35-90AA-C0DD17DB1C1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AF588CB7-E9E3-4B47-A1C5-40C93D91F73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54E534C-12D8-4A9F-A223-E78103728DAE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3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2EEB92C-B30E-4C59-A890-8B93791DFCA6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C693B48-D609-4BE2-9F9D-1B521685A1A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6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BD86B88-7896-4C4A-978A-9FD4AA77A914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8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B5185AD-FEE6-4CBB-B321-F41B0305F20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C814144-A32F-4FC9-B97C-5FD78CDB3D71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F7D58DC-F43A-4577-BCF5-5A0698EA446D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5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DECE0290-059D-48FF-A4B9-DD20FE50942D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7D681B8-39C3-40DD-A906-C827E9EF8EB4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5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0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466DF94-7E3A-4B9D-B838-10F365457AF7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B5314AD-3C6F-4CC6-B73D-021043AE5ABA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78955A6E-3AE5-4D2A-94E0-FAB681F3F597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4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F3B84EC-355C-48C5-83D0-E8DE5FC438AD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3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8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205A1C1-5190-4003-8303-EF98478BB61B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2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8440EBEA-D4E1-4DB4-96F1-6F2DB154223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1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C795CB0-D314-4E51-9949-D92E36AEF78E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065C6236-0610-497E-B5EF-DB406A10E815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4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05D8FB4-AD6B-4953-96CE-CCA1CFD069C9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Picture 2"/>
          <p:cNvPicPr/>
          <p:nvPr/>
        </p:nvPicPr>
        <p:blipFill>
          <a:blip r:embed="rId2"/>
          <a:srcRect l="25713" t="0" r="29850" b="0"/>
          <a:stretch/>
        </p:blipFill>
        <p:spPr>
          <a:xfrm>
            <a:off x="6599880" y="0"/>
            <a:ext cx="5274720" cy="683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CustomShape 1"/>
          <p:cNvSpPr/>
          <p:nvPr/>
        </p:nvSpPr>
        <p:spPr>
          <a:xfrm>
            <a:off x="6595560" y="0"/>
            <a:ext cx="5280480" cy="6851880"/>
          </a:xfrm>
          <a:prstGeom prst="rect">
            <a:avLst/>
          </a:prstGeom>
          <a:gradFill rotWithShape="0">
            <a:gsLst>
              <a:gs pos="0">
                <a:srgbClr val="1F497D">
                  <a:alpha val="60000"/>
                </a:srgbClr>
              </a:gs>
              <a:gs pos="100000">
                <a:srgbClr val="1F497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CustomShape 2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CustomShape 3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32380FB-FF26-4598-A721-C16B6B2035C0}" type="slidenum">
              <a:rPr lang="ru-RU" sz="104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6" name="Рисунок 18"/>
          <p:cNvPicPr/>
          <p:nvPr/>
        </p:nvPicPr>
        <p:blipFill>
          <a:blip r:embed="rId3"/>
          <a:stretch/>
        </p:blipFill>
        <p:spPr>
          <a:xfrm>
            <a:off x="327240" y="629748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B94D76F2-02AE-4D4C-8C01-EEC2831483C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42D1DD3D-1CDA-4E10-8020-02325B2CDDF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24EDD8A-9E0D-4A0B-98F5-A017617D64A0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9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CE8E4F7-9922-4181-818C-13269A93293A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4D12795-A7A9-4541-9B10-A8FDCC02BFE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5773DC76-F422-444B-861E-981D79FC5CE3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CB99A299-F955-4CCB-B228-B908EE82280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A22F6CB-B521-41D1-91E0-0E721751E77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16D0D76C-D308-4419-BEFE-6D10B3EFB37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1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368D46E8-81B2-484D-9924-B8FF4FDD332B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8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28F67A27-D960-4222-841D-11DB4F7200A5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4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96315D0C-836A-421F-86F6-1F67CC53BE28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2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EBE6D0F5-9BC0-4E33-AF4B-EF6AE5317C3C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7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1" name=""/>
          <p:cNvPicPr/>
          <p:nvPr/>
        </p:nvPicPr>
        <p:blipFill>
          <a:blip r:embed="rId3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2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CustomShape 1"/>
          <p:cNvSpPr/>
          <p:nvPr/>
        </p:nvSpPr>
        <p:spPr>
          <a:xfrm>
            <a:off x="0" y="233640"/>
            <a:ext cx="233280" cy="238680"/>
          </a:xfrm>
          <a:prstGeom prst="rect">
            <a:avLst/>
          </a:prstGeom>
          <a:gradFill rotWithShape="0">
            <a:gsLst>
              <a:gs pos="0">
                <a:srgbClr val="1F497D"/>
              </a:gs>
              <a:gs pos="100000">
                <a:srgbClr val="4F81BD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CustomShape 2"/>
          <p:cNvSpPr/>
          <p:nvPr/>
        </p:nvSpPr>
        <p:spPr>
          <a:xfrm>
            <a:off x="11272680" y="6412320"/>
            <a:ext cx="588960" cy="208800"/>
          </a:xfrm>
          <a:prstGeom prst="rect">
            <a:avLst/>
          </a:prstGeom>
          <a:noFill/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26280" tIns="26280" rIns="26280" bIns="26280" anchor="ctr">
            <a:noAutofit/>
          </a:bodyPr>
          <a:p>
            <a:pPr algn="ctr">
              <a:lnSpc>
                <a:spcPct val="100000"/>
              </a:lnSpc>
            </a:pPr>
            <a:fld id="{69ED03F2-014F-48B5-8CEF-BB676261FA07}" type="slidenum">
              <a:rPr lang="ru-RU" sz="1040" b="0" u="none" strike="noStrike">
                <a:solidFill>
                  <a:srgbClr val="14B4C8"/>
                </a:solidFill>
                <a:effectLst/>
                <a:uFillTx/>
                <a:latin typeface="Arial"/>
                <a:ea typeface="Arial"/>
              </a:rPr>
              <a:t>&lt;номер&gt;</a:t>
            </a:fld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5" name="Рисунок 8"/>
          <p:cNvPicPr/>
          <p:nvPr/>
        </p:nvPicPr>
        <p:blipFill>
          <a:blip r:embed="rId2"/>
          <a:stretch/>
        </p:blipFill>
        <p:spPr>
          <a:xfrm>
            <a:off x="327240" y="6310440"/>
            <a:ext cx="1202400" cy="43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9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5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4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1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6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7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9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0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4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5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77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4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3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7" name=""/>
          <p:cNvPicPr/>
          <p:nvPr/>
        </p:nvPicPr>
        <p:blipFill>
          <a:blip r:embed="rId4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8" name=""/>
          <p:cNvPicPr/>
          <p:nvPr/>
        </p:nvPicPr>
        <p:blipFill>
          <a:blip r:embed="rId5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9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0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2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593640" y="272880"/>
            <a:ext cx="106894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480" cy="3965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Рисунок 7"/>
          <p:cNvPicPr/>
          <p:nvPr/>
        </p:nvPicPr>
        <p:blipFill>
          <a:blip r:embed="rId2"/>
          <a:srcRect l="56379" t="0" r="0" b="0"/>
          <a:stretch/>
        </p:blipFill>
        <p:spPr>
          <a:xfrm>
            <a:off x="6697440" y="0"/>
            <a:ext cx="517860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6" name="CustomShape 1"/>
          <p:cNvSpPr/>
          <p:nvPr/>
        </p:nvSpPr>
        <p:spPr>
          <a:xfrm>
            <a:off x="6706800" y="0"/>
            <a:ext cx="5169240" cy="6851880"/>
          </a:xfrm>
          <a:prstGeom prst="rect">
            <a:avLst/>
          </a:prstGeom>
          <a:gradFill rotWithShape="0">
            <a:gsLst>
              <a:gs pos="11000">
                <a:srgbClr val="1F497D">
                  <a:alpha val="60000"/>
                </a:srgbClr>
              </a:gs>
              <a:gs pos="100000">
                <a:srgbClr val="4F81BD">
                  <a:alpha val="60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CustomShape 2"/>
          <p:cNvSpPr/>
          <p:nvPr/>
        </p:nvSpPr>
        <p:spPr>
          <a:xfrm>
            <a:off x="0" y="2273040"/>
            <a:ext cx="131400" cy="2200320"/>
          </a:xfrm>
          <a:prstGeom prst="rect">
            <a:avLst/>
          </a:prstGeom>
          <a:gradFill rotWithShape="0">
            <a:gsLst>
              <a:gs pos="0">
                <a:srgbClr val="243F90"/>
              </a:gs>
              <a:gs pos="100000">
                <a:srgbClr val="14B4C9"/>
              </a:gs>
            </a:gsLst>
            <a:lin ang="18900000"/>
          </a:gra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65880" tIns="45000" rIns="6588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8" name="Рисунок 10"/>
          <p:cNvPicPr/>
          <p:nvPr/>
        </p:nvPicPr>
        <p:blipFill>
          <a:blip r:embed="rId3"/>
          <a:stretch/>
        </p:blipFill>
        <p:spPr>
          <a:xfrm>
            <a:off x="10962000" y="211320"/>
            <a:ext cx="734400" cy="2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Обычный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4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1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8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PlaceHolder 5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0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3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3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7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6" name=""/>
          <p:cNvPicPr/>
          <p:nvPr/>
        </p:nvPicPr>
        <p:blipFill>
          <a:blip r:embed="rId8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47" name=""/>
          <p:cNvPicPr/>
          <p:nvPr/>
        </p:nvPicPr>
        <p:blipFill>
          <a:blip r:embed="rId9"/>
          <a:stretch/>
        </p:blipFill>
        <p:spPr>
          <a:xfrm>
            <a:off x="3453120" y="1600200"/>
            <a:ext cx="4969800" cy="396504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8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9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1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2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5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6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9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0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61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2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3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5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7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69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0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73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4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75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6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7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8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0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1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4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5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8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89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0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4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9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1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0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0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0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1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3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4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17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8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1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2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23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Обычный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2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9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3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3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Обычный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2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3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4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7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9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0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1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52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PlaceHolder 4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Обычный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7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0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1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4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5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8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69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70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396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body"/>
          </p:nvPr>
        </p:nvSpPr>
        <p:spPr>
          <a:xfrm>
            <a:off x="6072120" y="367272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Обычный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5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78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3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5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6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7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88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 type="body"/>
          </p:nvPr>
        </p:nvSpPr>
        <p:spPr>
          <a:xfrm>
            <a:off x="6072120" y="1600560"/>
            <a:ext cx="52153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Обычный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Рисунок 19"/>
          <p:cNvPicPr/>
          <p:nvPr/>
        </p:nvPicPr>
        <p:blipFill>
          <a:blip r:embed="rId2"/>
          <a:stretch/>
        </p:blipFill>
        <p:spPr>
          <a:xfrm>
            <a:off x="0" y="0"/>
            <a:ext cx="11876040" cy="6837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4" name="CustomShape 1"/>
          <p:cNvSpPr/>
          <p:nvPr/>
        </p:nvSpPr>
        <p:spPr>
          <a:xfrm>
            <a:off x="0" y="0"/>
            <a:ext cx="11876040" cy="6837120"/>
          </a:xfrm>
          <a:prstGeom prst="rect">
            <a:avLst/>
          </a:prstGeom>
          <a:gradFill rotWithShape="0">
            <a:gsLst>
              <a:gs pos="23000">
                <a:srgbClr val="1F497D">
                  <a:alpha val="60000"/>
                </a:srgbClr>
              </a:gs>
              <a:gs pos="100000">
                <a:srgbClr val="1F497D">
                  <a:alpha val="46000"/>
                </a:srgbClr>
              </a:gs>
            </a:gsLst>
            <a:lin ang="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CustomShape 2"/>
          <p:cNvSpPr/>
          <p:nvPr/>
        </p:nvSpPr>
        <p:spPr>
          <a:xfrm>
            <a:off x="0" y="607320"/>
            <a:ext cx="150840" cy="117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/>
        </p:style>
        <p:txBody>
          <a:bodyPr lIns="75600" tIns="45000" rIns="756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6" name="Рисунок 22"/>
          <p:cNvPicPr/>
          <p:nvPr/>
        </p:nvPicPr>
        <p:blipFill>
          <a:blip r:embed="rId3"/>
          <a:stretch/>
        </p:blipFill>
        <p:spPr>
          <a:xfrm>
            <a:off x="609120" y="5953680"/>
            <a:ext cx="1840680" cy="67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7" name="CustomShape 3"/>
          <p:cNvSpPr/>
          <p:nvPr/>
        </p:nvSpPr>
        <p:spPr>
          <a:xfrm>
            <a:off x="3522600" y="6050160"/>
            <a:ext cx="16596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www.ibs-training.ru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CustomShape 4"/>
          <p:cNvSpPr/>
          <p:nvPr/>
        </p:nvSpPr>
        <p:spPr>
          <a:xfrm>
            <a:off x="6052320" y="605016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vk.com/ibs_training_center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CustomShape 5"/>
          <p:cNvSpPr/>
          <p:nvPr/>
        </p:nvSpPr>
        <p:spPr>
          <a:xfrm>
            <a:off x="5714640" y="6022440"/>
            <a:ext cx="2307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0" name="Рисунок 68"/>
          <p:cNvPicPr/>
          <p:nvPr/>
        </p:nvPicPr>
        <p:blipFill>
          <a:blip r:embed="rId4"/>
          <a:stretch/>
        </p:blipFill>
        <p:spPr>
          <a:xfrm>
            <a:off x="5757480" y="6094440"/>
            <a:ext cx="146520" cy="9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1" name="CustomShape 6"/>
          <p:cNvSpPr/>
          <p:nvPr/>
        </p:nvSpPr>
        <p:spPr>
          <a:xfrm>
            <a:off x="348804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 t.me/IBS_Training_Center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CustomShape 7"/>
          <p:cNvSpPr/>
          <p:nvPr/>
        </p:nvSpPr>
        <p:spPr>
          <a:xfrm>
            <a:off x="6052320" y="6346800"/>
            <a:ext cx="2035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7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dzen.ru/ibs_training_center</a:t>
            </a:r>
            <a:endParaRPr lang="ru-RU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CustomShape 8"/>
          <p:cNvSpPr/>
          <p:nvPr/>
        </p:nvSpPr>
        <p:spPr>
          <a:xfrm>
            <a:off x="5719320" y="6319080"/>
            <a:ext cx="236160" cy="236160"/>
          </a:xfrm>
          <a:prstGeom prst="rect">
            <a:avLst/>
          </a:prstGeom>
          <a:solidFill>
            <a:schemeClr val="bg1"/>
          </a:solidFill>
          <a:ln w="324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4" name="Рисунок 66"/>
          <p:cNvPicPr/>
          <p:nvPr/>
        </p:nvPicPr>
        <p:blipFill>
          <a:blip r:embed="rId5"/>
          <a:stretch/>
        </p:blipFill>
        <p:spPr>
          <a:xfrm>
            <a:off x="5756400" y="6357240"/>
            <a:ext cx="156600" cy="16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5" name="Рисунок 63"/>
          <p:cNvPicPr/>
          <p:nvPr/>
        </p:nvPicPr>
        <p:blipFill>
          <a:blip r:embed="rId6"/>
          <a:stretch/>
        </p:blipFill>
        <p:spPr>
          <a:xfrm>
            <a:off x="3206160" y="633564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6" name="Рисунок 64"/>
          <p:cNvPicPr/>
          <p:nvPr/>
        </p:nvPicPr>
        <p:blipFill>
          <a:blip r:embed="rId7"/>
          <a:stretch/>
        </p:blipFill>
        <p:spPr>
          <a:xfrm>
            <a:off x="3206520" y="6015600"/>
            <a:ext cx="230760" cy="236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7" name="PlaceHolder 1"/>
          <p:cNvSpPr>
            <a:spLocks noGrp="1"/>
          </p:cNvSpPr>
          <p:nvPr>
            <p:ph type="title"/>
          </p:nvPr>
        </p:nvSpPr>
        <p:spPr>
          <a:xfrm>
            <a:off x="593640" y="218880"/>
            <a:ext cx="10689120" cy="124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2"/>
          <p:cNvSpPr>
            <a:spLocks noGrp="1"/>
          </p:cNvSpPr>
          <p:nvPr>
            <p:ph type="body"/>
          </p:nvPr>
        </p:nvSpPr>
        <p:spPr>
          <a:xfrm>
            <a:off x="593640" y="160056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PlaceHolder 3"/>
          <p:cNvSpPr>
            <a:spLocks noGrp="1"/>
          </p:cNvSpPr>
          <p:nvPr>
            <p:ph type="body"/>
          </p:nvPr>
        </p:nvSpPr>
        <p:spPr>
          <a:xfrm>
            <a:off x="593640" y="3672720"/>
            <a:ext cx="10689120" cy="1890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  <a:def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9.xml"/><Relationship Id="rId15" Type="http://schemas.openxmlformats.org/officeDocument/2006/relationships/slideLayout" Target="../slideLayouts/slideLayout50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1.xml"/><Relationship Id="rId3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4.xml"/><Relationship Id="rId6" Type="http://schemas.openxmlformats.org/officeDocument/2006/relationships/slideLayout" Target="../slideLayouts/slideLayout55.xml"/><Relationship Id="rId7" Type="http://schemas.openxmlformats.org/officeDocument/2006/relationships/slideLayout" Target="../slideLayouts/slideLayout56.xml"/><Relationship Id="rId8" Type="http://schemas.openxmlformats.org/officeDocument/2006/relationships/slideLayout" Target="../slideLayouts/slideLayout57.xml"/><Relationship Id="rId9" Type="http://schemas.openxmlformats.org/officeDocument/2006/relationships/slideLayout" Target="../slideLayouts/slideLayout58.xml"/><Relationship Id="rId10" Type="http://schemas.openxmlformats.org/officeDocument/2006/relationships/slideLayout" Target="../slideLayouts/slideLayout59.xml"/><Relationship Id="rId11" Type="http://schemas.openxmlformats.org/officeDocument/2006/relationships/slideLayout" Target="../slideLayouts/slideLayout60.xml"/><Relationship Id="rId12" Type="http://schemas.openxmlformats.org/officeDocument/2006/relationships/slideLayout" Target="../slideLayouts/slideLayout61.xml"/><Relationship Id="rId13" Type="http://schemas.openxmlformats.org/officeDocument/2006/relationships/slideLayout" Target="../slideLayouts/slideLayout62.xml"/>
</Relationships>
</file>

<file path=ppt/slideMasters/_rels/slideMaster63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</p:sldLayoutIdLst>
</p:sldMaster>
</file>

<file path=ppt/slideMasters/slideMaster6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hyperlink" Target="mailto:education@ibs.ru" TargetMode="External"/><Relationship Id="rId3" Type="http://schemas.openxmlformats.org/officeDocument/2006/relationships/image" Target="../media/image14.jpeg"/><Relationship Id="rId4" Type="http://schemas.openxmlformats.org/officeDocument/2006/relationships/slideLayout" Target="../slideLayouts/slideLayout2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svg"/><Relationship Id="rId3" Type="http://schemas.openxmlformats.org/officeDocument/2006/relationships/slideLayout" Target="../slideLayouts/slideLayout5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svg"/><Relationship Id="rId3" Type="http://schemas.openxmlformats.org/officeDocument/2006/relationships/slideLayout" Target="../slideLayouts/slideLayout3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svg"/><Relationship Id="rId3" Type="http://schemas.openxmlformats.org/officeDocument/2006/relationships/slideLayout" Target="../slideLayouts/slideLayout4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svg"/><Relationship Id="rId3" Type="http://schemas.openxmlformats.org/officeDocument/2006/relationships/slideLayout" Target="../slideLayouts/slideLayout4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0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svg"/><Relationship Id="rId3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svg"/><Relationship Id="rId3" Type="http://schemas.openxmlformats.org/officeDocument/2006/relationships/slideLayout" Target="../slideLayouts/slideLayout50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slideLayout" Target="../slideLayouts/slideLayout3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svg"/><Relationship Id="rId3" Type="http://schemas.openxmlformats.org/officeDocument/2006/relationships/slideLayout" Target="../slideLayouts/slideLayout3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svg"/><Relationship Id="rId3" Type="http://schemas.openxmlformats.org/officeDocument/2006/relationships/slideLayout" Target="../slideLayouts/slideLayout50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6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CustomShape 1"/>
          <p:cNvSpPr/>
          <p:nvPr/>
        </p:nvSpPr>
        <p:spPr>
          <a:xfrm>
            <a:off x="609120" y="2031480"/>
            <a:ext cx="785016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Почему Java-разработчику следует брать на вооружение Quarkus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CustomShape 2"/>
          <p:cNvSpPr/>
          <p:nvPr/>
        </p:nvSpPr>
        <p:spPr>
          <a:xfrm>
            <a:off x="609120" y="3528360"/>
            <a:ext cx="785016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34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 июня 2026 г.</a:t>
            </a:r>
            <a:endParaRPr lang="ru-RU" sz="2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CustomShape 1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CustomShape 2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CustomShape 3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CustomShape 4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CustomShape 5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CustomShape 6"/>
          <p:cNvSpPr/>
          <p:nvPr/>
        </p:nvSpPr>
        <p:spPr>
          <a:xfrm>
            <a:off x="417240" y="26388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CustomShape 7"/>
          <p:cNvSpPr/>
          <p:nvPr/>
        </p:nvSpPr>
        <p:spPr>
          <a:xfrm>
            <a:off x="603720" y="735840"/>
            <a:ext cx="5889240" cy="74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Здравствуйте, меня зовут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Константин Чвилёв.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CustomShape 8"/>
          <p:cNvSpPr/>
          <p:nvPr/>
        </p:nvSpPr>
        <p:spPr>
          <a:xfrm>
            <a:off x="542520" y="1646280"/>
            <a:ext cx="5884920" cy="180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34 года в IT. Программист, руководитель группы разработки, начальник службы автоматизации, наставник. Участвовал в проектировании архитектуры и разработке импортозамещения обработки платежей по банковским картам. Специализируюсь на высоконагруженных микросервисных системах, импортозамещении, асинхронной обработке и облачных решениях. Опыт работы с производством, строительством, зарубежными заказчиками.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0" name="Рисунок 41"/>
          <p:cNvPicPr/>
          <p:nvPr/>
        </p:nvPicPr>
        <p:blipFill>
          <a:blip r:embed="rId1"/>
          <a:stretch/>
        </p:blipFill>
        <p:spPr>
          <a:xfrm>
            <a:off x="7149240" y="834120"/>
            <a:ext cx="4038840" cy="5385960"/>
          </a:xfrm>
          <a:prstGeom prst="rect">
            <a:avLst/>
          </a:prstGeom>
          <a:noFill/>
          <a:ln w="0">
            <a:noFill/>
          </a:ln>
          <a:effectLst>
            <a:reflection algn="bl" blurRad="12700" dir="5400000" dist="5000" endPos="28000" rotWithShape="0" stA="38000" sy="-100000"/>
          </a:effectLst>
        </p:spPr>
      </p:pic>
      <p:sp>
        <p:nvSpPr>
          <p:cNvPr id="621" name="CustomShape 9"/>
          <p:cNvSpPr/>
          <p:nvPr/>
        </p:nvSpPr>
        <p:spPr>
          <a:xfrm>
            <a:off x="542520" y="5337360"/>
            <a:ext cx="4400640" cy="897480"/>
          </a:xfrm>
          <a:prstGeom prst="rect">
            <a:avLst/>
          </a:prstGeom>
          <a:solidFill>
            <a:srgbClr val="F2F2F2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CustomShape 10"/>
          <p:cNvSpPr/>
          <p:nvPr/>
        </p:nvSpPr>
        <p:spPr>
          <a:xfrm>
            <a:off x="750240" y="5449680"/>
            <a:ext cx="40906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Пишите на адрес: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CustomShape 11"/>
          <p:cNvSpPr/>
          <p:nvPr/>
        </p:nvSpPr>
        <p:spPr>
          <a:xfrm>
            <a:off x="1078200" y="5749560"/>
            <a:ext cx="16768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sng" strike="noStrike">
                <a:solidFill>
                  <a:srgbClr val="0000FF"/>
                </a:solidFill>
                <a:effectLst/>
                <a:uFill>
                  <a:solidFill>
                    <a:srgbClr val="FFFFFF"/>
                  </a:solidFill>
                </a:uFill>
                <a:latin typeface="Arial"/>
                <a:ea typeface="DejaVu Sans"/>
                <a:hlinkClick r:id="rId2"/>
              </a:rPr>
              <a:t>education@ibs.ru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CustomShape 12"/>
          <p:cNvSpPr/>
          <p:nvPr/>
        </p:nvSpPr>
        <p:spPr>
          <a:xfrm>
            <a:off x="839880" y="5862240"/>
            <a:ext cx="216000" cy="122760"/>
          </a:xfrm>
          <a:custGeom>
            <a:avLst/>
            <a:gdLst>
              <a:gd name="textAreaLeft" fmla="*/ 0 w 216000"/>
              <a:gd name="textAreaRight" fmla="*/ 217800 w 216000"/>
              <a:gd name="textAreaTop" fmla="*/ 0 h 122760"/>
              <a:gd name="textAreaBottom" fmla="*/ 124560 h 122760"/>
            </a:gdLst>
            <a:ahLst/>
            <a:cxnLst/>
            <a:rect l="textAreaLeft" t="textAreaTop" r="textAreaRight" b="textAreaBottom"/>
            <a:pathLst>
              <a:path w="288" h="165">
                <a:moveTo>
                  <a:pt x="1" y="0"/>
                </a:moveTo>
                <a:cubicBezTo>
                  <a:pt x="4" y="2"/>
                  <a:pt x="6" y="3"/>
                  <a:pt x="8" y="4"/>
                </a:cubicBezTo>
                <a:cubicBezTo>
                  <a:pt x="49" y="29"/>
                  <a:pt x="90" y="55"/>
                  <a:pt x="131" y="80"/>
                </a:cubicBezTo>
                <a:cubicBezTo>
                  <a:pt x="133" y="81"/>
                  <a:pt x="135" y="82"/>
                  <a:pt x="137" y="84"/>
                </a:cubicBezTo>
                <a:cubicBezTo>
                  <a:pt x="142" y="87"/>
                  <a:pt x="146" y="86"/>
                  <a:pt x="151" y="84"/>
                </a:cubicBezTo>
                <a:cubicBezTo>
                  <a:pt x="167" y="74"/>
                  <a:pt x="183" y="64"/>
                  <a:pt x="199" y="55"/>
                </a:cubicBezTo>
                <a:cubicBezTo>
                  <a:pt x="226" y="38"/>
                  <a:pt x="253" y="21"/>
                  <a:pt x="280" y="5"/>
                </a:cubicBezTo>
                <a:cubicBezTo>
                  <a:pt x="282" y="4"/>
                  <a:pt x="284" y="2"/>
                  <a:pt x="287" y="0"/>
                </a:cubicBezTo>
                <a:cubicBezTo>
                  <a:pt x="287" y="3"/>
                  <a:pt x="287" y="5"/>
                  <a:pt x="287" y="7"/>
                </a:cubicBezTo>
                <a:cubicBezTo>
                  <a:pt x="287" y="50"/>
                  <a:pt x="287" y="92"/>
                  <a:pt x="287" y="135"/>
                </a:cubicBezTo>
                <a:cubicBezTo>
                  <a:pt x="287" y="140"/>
                  <a:pt x="288" y="146"/>
                  <a:pt x="285" y="151"/>
                </a:cubicBezTo>
                <a:cubicBezTo>
                  <a:pt x="279" y="159"/>
                  <a:pt x="272" y="165"/>
                  <a:pt x="261" y="165"/>
                </a:cubicBezTo>
                <a:cubicBezTo>
                  <a:pt x="201" y="165"/>
                  <a:pt x="141" y="165"/>
                  <a:pt x="80" y="165"/>
                </a:cubicBezTo>
                <a:cubicBezTo>
                  <a:pt x="64" y="165"/>
                  <a:pt x="47" y="165"/>
                  <a:pt x="31" y="165"/>
                </a:cubicBezTo>
                <a:cubicBezTo>
                  <a:pt x="28" y="165"/>
                  <a:pt x="25" y="164"/>
                  <a:pt x="22" y="164"/>
                </a:cubicBezTo>
                <a:cubicBezTo>
                  <a:pt x="10" y="162"/>
                  <a:pt x="1" y="153"/>
                  <a:pt x="1" y="141"/>
                </a:cubicBezTo>
                <a:cubicBezTo>
                  <a:pt x="1" y="96"/>
                  <a:pt x="0" y="50"/>
                  <a:pt x="0" y="4"/>
                </a:cubicBezTo>
                <a:cubicBezTo>
                  <a:pt x="0" y="3"/>
                  <a:pt x="0" y="2"/>
                  <a:pt x="1" y="0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CustomShape 13"/>
          <p:cNvSpPr/>
          <p:nvPr/>
        </p:nvSpPr>
        <p:spPr>
          <a:xfrm>
            <a:off x="858960" y="5845320"/>
            <a:ext cx="177840" cy="55080"/>
          </a:xfrm>
          <a:custGeom>
            <a:avLst/>
            <a:gdLst>
              <a:gd name="textAreaLeft" fmla="*/ 0 w 177840"/>
              <a:gd name="textAreaRight" fmla="*/ 179640 w 177840"/>
              <a:gd name="textAreaTop" fmla="*/ 0 h 55080"/>
              <a:gd name="textAreaBottom" fmla="*/ 56880 h 55080"/>
            </a:gdLst>
            <a:ahLst/>
            <a:cxnLst/>
            <a:rect l="textAreaLeft" t="textAreaTop" r="textAreaRight" b="textAreaBottom"/>
            <a:pathLst>
              <a:path w="238" h="76">
                <a:moveTo>
                  <a:pt x="0" y="1"/>
                </a:moveTo>
                <a:cubicBezTo>
                  <a:pt x="79" y="0"/>
                  <a:pt x="159" y="0"/>
                  <a:pt x="238" y="1"/>
                </a:cubicBezTo>
                <a:cubicBezTo>
                  <a:pt x="238" y="2"/>
                  <a:pt x="238" y="2"/>
                  <a:pt x="238" y="2"/>
                </a:cubicBezTo>
                <a:cubicBezTo>
                  <a:pt x="237" y="3"/>
                  <a:pt x="235" y="4"/>
                  <a:pt x="234" y="5"/>
                </a:cubicBezTo>
                <a:cubicBezTo>
                  <a:pt x="197" y="28"/>
                  <a:pt x="160" y="51"/>
                  <a:pt x="123" y="74"/>
                </a:cubicBezTo>
                <a:cubicBezTo>
                  <a:pt x="120" y="76"/>
                  <a:pt x="118" y="76"/>
                  <a:pt x="115" y="74"/>
                </a:cubicBezTo>
                <a:cubicBezTo>
                  <a:pt x="78" y="50"/>
                  <a:pt x="40" y="27"/>
                  <a:pt x="2" y="4"/>
                </a:cubicBezTo>
                <a:cubicBezTo>
                  <a:pt x="2" y="3"/>
                  <a:pt x="1" y="3"/>
                  <a:pt x="0" y="2"/>
                </a:cubicBezTo>
                <a:cubicBezTo>
                  <a:pt x="0" y="2"/>
                  <a:pt x="0" y="2"/>
                  <a:pt x="0" y="1"/>
                </a:cubicBezTo>
                <a:close/>
              </a:path>
            </a:pathLst>
          </a:custGeom>
          <a:solidFill>
            <a:srgbClr val="243F9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88920" tIns="11880" rIns="88920" bIns="11880" anchor="t">
            <a:noAutofit/>
          </a:bodyPr>
          <a:p>
            <a:endParaRPr lang="ru-RU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CustomShape 14"/>
          <p:cNvSpPr/>
          <p:nvPr/>
        </p:nvSpPr>
        <p:spPr>
          <a:xfrm>
            <a:off x="3002400" y="5789520"/>
            <a:ext cx="1350360" cy="235440"/>
          </a:xfrm>
          <a:prstGeom prst="roundRect">
            <a:avLst>
              <a:gd name="adj" fmla="val 16667"/>
            </a:avLst>
          </a:prstGeom>
          <a:solidFill>
            <a:srgbClr val="243F90"/>
          </a:solidFill>
          <a:ln w="255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ibs-training.ru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CustomShape 15"/>
          <p:cNvSpPr/>
          <p:nvPr/>
        </p:nvSpPr>
        <p:spPr>
          <a:xfrm>
            <a:off x="8468280" y="3501720"/>
            <a:ext cx="1315080" cy="3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Фото тренера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8" name=""/>
          <p:cNvPicPr/>
          <p:nvPr/>
        </p:nvPicPr>
        <p:blipFill>
          <a:blip r:embed="rId3"/>
          <a:stretch/>
        </p:blipFill>
        <p:spPr>
          <a:xfrm>
            <a:off x="6728400" y="72000"/>
            <a:ext cx="5076720" cy="6702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ustomShape 1"/>
          <p:cNvSpPr/>
          <p:nvPr/>
        </p:nvSpPr>
        <p:spPr>
          <a:xfrm>
            <a:off x="327240" y="720000"/>
            <a:ext cx="5889240" cy="7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Давайте познакомимся!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CustomShape 2"/>
          <p:cNvSpPr/>
          <p:nvPr/>
        </p:nvSpPr>
        <p:spPr>
          <a:xfrm>
            <a:off x="327240" y="340920"/>
            <a:ext cx="588456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нетворкинг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CustomShape 3"/>
          <p:cNvSpPr/>
          <p:nvPr/>
        </p:nvSpPr>
        <p:spPr>
          <a:xfrm>
            <a:off x="327240" y="1887840"/>
            <a:ext cx="5131800" cy="165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Имя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«Почему я здесь?»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ru-RU" sz="2000" b="0" u="none" strike="noStrike" cap="all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Ваши ожидания от этого вебинара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5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8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CustomShape 14"/>
          <p:cNvSpPr/>
          <p:nvPr/>
        </p:nvSpPr>
        <p:spPr>
          <a:xfrm>
            <a:off x="599400" y="102924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Цель и задачи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CustomShape 15"/>
          <p:cNvSpPr/>
          <p:nvPr/>
        </p:nvSpPr>
        <p:spPr>
          <a:xfrm>
            <a:off x="612720" y="188820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Разобрать проблемы Spring Boot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Познакомить с Quarkus и родной сборкой (GraalVM)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Сравнить производительность на живом коде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Рассказать о настоящем случае из промышленной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5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Объявить курс QRK-001«Quarkus: разработка микросервисов на Java или Kotlin»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Знакомство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CustomShape 14"/>
          <p:cNvSpPr/>
          <p:nvPr/>
        </p:nvSpPr>
        <p:spPr>
          <a:xfrm>
            <a:off x="612720" y="9900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Содержание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ustomShape 15"/>
          <p:cNvSpPr/>
          <p:nvPr/>
        </p:nvSpPr>
        <p:spPr>
          <a:xfrm>
            <a:off x="612720" y="186948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OpenSymbo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Архитектурная карта среды Java, сравнение по ключевым признакам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Проблема долгого старта и высокого потребления памяти (Spring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такое Quarkus? Среда разработки для облачной среды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Живой код: REST-сервис на Spring Boot vs Quarkus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Измерение времени запуска и памяти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(GraalVM) – запуск за миллисекунды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Настоящий случай: асинхронная обработка SOAP, REST, JPA запросов в микросервисах.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Как продолжить изучение – курс QRK-001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CustomShape 14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CustomShape 15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7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0" y="356760"/>
            <a:ext cx="11878200" cy="5942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43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CustomShape 44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0" name="CustomShape 7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CustomShape 7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2" name="CustomShape 7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3" name="CustomShape 7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CustomShape 7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CustomShape 7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CustomShape 7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CustomShape 8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CustomShape 8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CustomShape 8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CustomShape 8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CustomShape 84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CustomShape 85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3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626480" y="180000"/>
            <a:ext cx="8702640" cy="647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CustomShape 17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CustomShape 18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CustomShape 19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CustomShape 20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CustomShape 21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CustomShape 22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CustomShape 23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CustomShape 24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CustomShape 25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CustomShape 26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CustomShape 27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CustomShape 28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CustomShape 29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CustomShape 86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CustomShape 87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9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20000" y="0"/>
            <a:ext cx="10799280" cy="6839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CustomShape 88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CustomShape 103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CustomShape 104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CustomShape 105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CustomShape 106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5" name="CustomShape 107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CustomShape 108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CustomShape 109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CustomShape 110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CustomShape 111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ustomShape 112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CustomShape 113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2" name="CustomShape 114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CustomShape 115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CustomShape 116"/>
          <p:cNvSpPr/>
          <p:nvPr/>
        </p:nvSpPr>
        <p:spPr>
          <a:xfrm>
            <a:off x="612720" y="1488600"/>
            <a:ext cx="10748880" cy="12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5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40000" y="180000"/>
            <a:ext cx="9899280" cy="6585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7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1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6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9" name="CustomShape 14"/>
          <p:cNvSpPr/>
          <p:nvPr/>
        </p:nvSpPr>
        <p:spPr>
          <a:xfrm>
            <a:off x="612720" y="9900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Spring Boot в облаке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CustomShape 15"/>
          <p:cNvSpPr/>
          <p:nvPr/>
        </p:nvSpPr>
        <p:spPr>
          <a:xfrm>
            <a:off x="612720" y="186948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Запуск 2–5 секунд – тормозит auto‑scaling в Kubernetes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Высокое потребление памяти – дорого в облаке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Тяжело достичь плотности развёртывания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Вывод: Нужен лёгкий, быстрый каркас для облачных систем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5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8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1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Проблема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CustomShape 14"/>
          <p:cNvSpPr/>
          <p:nvPr/>
        </p:nvSpPr>
        <p:spPr>
          <a:xfrm>
            <a:off x="612720" y="9900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Что такое Quarkus?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CustomShape 15"/>
          <p:cNvSpPr/>
          <p:nvPr/>
        </p:nvSpPr>
        <p:spPr>
          <a:xfrm>
            <a:off x="612720" y="1869480"/>
            <a:ext cx="1074888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Что это: Специально созданный для облачной среды и Kubernetes каркас разработки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Ключевые возможности: Быстрый старт (до миллисекунд)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Низкое потребление памяти (на 30–50% меньше Spring Boot)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Родная сборка через GraalVM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Более 800 расширений (Kafka, REST, Panache, Security)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5760">
              <a:lnSpc>
                <a:spcPct val="150000"/>
              </a:lnSpc>
              <a:buClr>
                <a:srgbClr val="14B4C8"/>
              </a:buClr>
              <a:buFont typeface="Arial"/>
              <a:buAutoNum type="arabicPeriod"/>
            </a:pPr>
            <a:r>
              <a:rPr lang="ru-RU" sz="2000" b="0" u="none" strike="noStrike">
                <a:solidFill>
                  <a:srgbClr val="424A52"/>
                </a:solidFill>
                <a:effectLst/>
                <a:uFillTx/>
                <a:latin typeface="Arial"/>
                <a:ea typeface="DejaVu Sans"/>
              </a:rPr>
              <a:t>Поддерживает: Java и Kotlin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CustomShape 1"/>
          <p:cNvSpPr/>
          <p:nvPr/>
        </p:nvSpPr>
        <p:spPr>
          <a:xfrm>
            <a:off x="612720" y="3791880"/>
            <a:ext cx="5884920" cy="68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CustomShape 2"/>
          <p:cNvSpPr/>
          <p:nvPr/>
        </p:nvSpPr>
        <p:spPr>
          <a:xfrm>
            <a:off x="496440" y="2260800"/>
            <a:ext cx="5884920" cy="12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8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80000" y="25920"/>
            <a:ext cx="9358560" cy="6838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4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7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2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1600" y="401760"/>
            <a:ext cx="10485720" cy="49611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CustomShape 30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CustomShape 31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CustomShape 32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CustomShape 33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CustomShape 34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CustomShape 35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9" name="CustomShape 36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0" name="CustomShape 37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CustomShape 38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2" name="CustomShape 39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CustomShape 40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CustomShape 41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5" name="CustomShape 42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6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96880" y="541440"/>
            <a:ext cx="9057240" cy="5914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CustomShape 60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8" name="CustomShape 61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9" name="CustomShape 62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CustomShape 63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CustomShape 64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2" name="CustomShape 65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CustomShape 66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4" name="CustomShape 67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CustomShape 68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CustomShape 69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7" name="CustomShape 70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CustomShape 71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CustomShape 72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0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55840" y="790920"/>
            <a:ext cx="9057240" cy="5342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ustomShape 1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CustomShape 2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3" name="CustomShape 3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CustomShape 4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CustomShape 5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CustomShape 6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CustomShape 7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CustomShape 8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CustomShape 9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0" name="CustomShape 10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CustomShape 11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2" name="CustomShape 12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3" name="CustomShape 13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4" name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261000" y="99720"/>
            <a:ext cx="11438280" cy="6199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CustomShape 45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6" name="CustomShape 46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CustomShape 47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8" name="CustomShape 48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CustomShape 49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CustomShape 50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1" name="CustomShape 51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2" name="CustomShape 52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CustomShape 53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4" name="CustomShape 54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5" name="CustomShape 55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6" name="CustomShape 56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7" name="CustomShape 57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ГДЕ ПОСМОТРЕТЬ?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8" name="CustomShape 58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вебинара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9" name="CustomShape 59"/>
          <p:cNvSpPr/>
          <p:nvPr/>
        </p:nvSpPr>
        <p:spPr>
          <a:xfrm>
            <a:off x="600120" y="1308600"/>
            <a:ext cx="107488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Spring Boot https://github.com/kchvilyov/qrk_001_spring/tree/java_hello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Минимальный проект на Java в каркасе Quarkus https://github.com/kchvilyov/qrk_001_quarkus/tree/java_hello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CustomShape 90"/>
          <p:cNvSpPr/>
          <p:nvPr/>
        </p:nvSpPr>
        <p:spPr>
          <a:xfrm>
            <a:off x="6757560" y="2544480"/>
            <a:ext cx="151776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2 000 г.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CustomShape 91"/>
          <p:cNvSpPr/>
          <p:nvPr/>
        </p:nvSpPr>
        <p:spPr>
          <a:xfrm>
            <a:off x="6757560" y="3038760"/>
            <a:ext cx="18792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Начало работы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CustomShape 92"/>
          <p:cNvSpPr/>
          <p:nvPr/>
        </p:nvSpPr>
        <p:spPr>
          <a:xfrm>
            <a:off x="6757560" y="35668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300+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CustomShape 93"/>
          <p:cNvSpPr/>
          <p:nvPr/>
        </p:nvSpPr>
        <p:spPr>
          <a:xfrm>
            <a:off x="6757560" y="4061160"/>
            <a:ext cx="187920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Тренингов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и программ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4" name="CustomShape 94"/>
          <p:cNvSpPr/>
          <p:nvPr/>
        </p:nvSpPr>
        <p:spPr>
          <a:xfrm>
            <a:off x="6766200" y="48301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60 000+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CustomShape 95"/>
          <p:cNvSpPr/>
          <p:nvPr/>
        </p:nvSpPr>
        <p:spPr>
          <a:xfrm>
            <a:off x="6766200" y="5277240"/>
            <a:ext cx="16934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Обученных специалистов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CustomShape 96"/>
          <p:cNvSpPr/>
          <p:nvPr/>
        </p:nvSpPr>
        <p:spPr>
          <a:xfrm>
            <a:off x="8996760" y="481248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1 000+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CustomShape 97"/>
          <p:cNvSpPr/>
          <p:nvPr/>
        </p:nvSpPr>
        <p:spPr>
          <a:xfrm>
            <a:off x="8996760" y="5301720"/>
            <a:ext cx="2224080" cy="50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Корпоративных 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клиентов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CustomShape 98"/>
          <p:cNvSpPr/>
          <p:nvPr/>
        </p:nvSpPr>
        <p:spPr>
          <a:xfrm>
            <a:off x="8992080" y="3563280"/>
            <a:ext cx="111492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250+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CustomShape 99"/>
          <p:cNvSpPr/>
          <p:nvPr/>
        </p:nvSpPr>
        <p:spPr>
          <a:xfrm>
            <a:off x="8992080" y="4057560"/>
            <a:ext cx="2224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Экспертов-практиков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0" name="CustomShape 100"/>
          <p:cNvSpPr/>
          <p:nvPr/>
        </p:nvSpPr>
        <p:spPr>
          <a:xfrm>
            <a:off x="9006840" y="2551320"/>
            <a:ext cx="1636200" cy="48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656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3120" b="1" u="none" spc="-20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15 лет+</a:t>
            </a:r>
            <a:endParaRPr lang="ru-RU" sz="31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CustomShape 101"/>
          <p:cNvSpPr/>
          <p:nvPr/>
        </p:nvSpPr>
        <p:spPr>
          <a:xfrm>
            <a:off x="9006840" y="3045600"/>
            <a:ext cx="199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5840" rIns="0" bIns="0" anchor="t">
            <a:noAutofit/>
          </a:bodyPr>
          <a:p>
            <a:pPr marL="16560">
              <a:lnSpc>
                <a:spcPct val="100000"/>
              </a:lnSpc>
            </a:pPr>
            <a:r>
              <a:rPr lang="ru-RU" sz="156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На внешнем рынке</a:t>
            </a:r>
            <a:endParaRPr lang="ru-RU" sz="15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2" name="CustomShape 102"/>
          <p:cNvSpPr/>
          <p:nvPr/>
        </p:nvSpPr>
        <p:spPr>
          <a:xfrm>
            <a:off x="612720" y="259560"/>
            <a:ext cx="5884560" cy="18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40" b="0" u="none" strike="noStrike" cap="all">
                <a:solidFill>
                  <a:srgbClr val="87929E"/>
                </a:solidFill>
                <a:effectLst/>
                <a:uFillTx/>
                <a:latin typeface="Arial"/>
                <a:ea typeface="DejaVu Sans"/>
              </a:rPr>
              <a:t>Что дальше?</a:t>
            </a:r>
            <a:endParaRPr lang="ru-RU" sz="10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CustomShape 117"/>
          <p:cNvSpPr/>
          <p:nvPr/>
        </p:nvSpPr>
        <p:spPr>
          <a:xfrm>
            <a:off x="612720" y="646200"/>
            <a:ext cx="1074888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2860" b="1" u="none" strike="noStrike">
                <a:solidFill>
                  <a:srgbClr val="243F90"/>
                </a:solidFill>
                <a:effectLst/>
                <a:uFillTx/>
                <a:latin typeface="Arial"/>
                <a:ea typeface="Arial"/>
              </a:rPr>
              <a:t>Материалы для самостоятельного изучения</a:t>
            </a:r>
            <a:endParaRPr lang="ru-RU" sz="2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CustomShape 118"/>
          <p:cNvSpPr/>
          <p:nvPr/>
        </p:nvSpPr>
        <p:spPr>
          <a:xfrm>
            <a:off x="600120" y="1308600"/>
            <a:ext cx="10748880" cy="28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90000" bIns="45000" anchor="t">
            <a:noAutofit/>
          </a:bodyPr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📄 Официальная документация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Guides — quarkus.io/guides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Reference — docs.spring.io/spring-boot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🎥 Доклады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Андрей Кулешов — «Не Spring'ом единым? Смотрим на Quarkus»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"Battle of the frameworks" — Devoxx Greece 2023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📚 Книги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Cookbook (O'Reilly)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Spring Boot in Action (Manning)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💬 Сообщества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Quarkus GitHub Discussions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34000" indent="-232560">
              <a:lnSpc>
                <a:spcPct val="100000"/>
              </a:lnSpc>
              <a:buClr>
                <a:srgbClr val="14B4C8"/>
              </a:buClr>
              <a:buFont typeface="Wingdings" charset="2"/>
              <a:buChar char=""/>
            </a:pPr>
            <a:r>
              <a:rPr lang="ru-RU" sz="2000" b="1" u="none" strike="noStrike">
                <a:solidFill>
                  <a:srgbClr val="14B4C8"/>
                </a:solidFill>
                <a:effectLst/>
                <a:uFillTx/>
                <a:latin typeface="Arial"/>
                <a:ea typeface="DejaVu Sans"/>
              </a:rPr>
              <a:t>• Stack Overflow (тег: quarkus)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CustomShape 1"/>
          <p:cNvSpPr/>
          <p:nvPr/>
        </p:nvSpPr>
        <p:spPr>
          <a:xfrm>
            <a:off x="599040" y="2178360"/>
            <a:ext cx="785016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Вопросы?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CustomShape 2"/>
          <p:cNvSpPr/>
          <p:nvPr/>
        </p:nvSpPr>
        <p:spPr>
          <a:xfrm>
            <a:off x="599040" y="2178360"/>
            <a:ext cx="9342360" cy="6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 cap="all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Пожалуйста, оставьте свой отзыв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7" name="CustomShape 3"/>
          <p:cNvSpPr/>
          <p:nvPr/>
        </p:nvSpPr>
        <p:spPr>
          <a:xfrm>
            <a:off x="1338120" y="3420000"/>
            <a:ext cx="6041880" cy="56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Ваше мнение очень важно для нас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CustomShape 1"/>
          <p:cNvSpPr/>
          <p:nvPr/>
        </p:nvSpPr>
        <p:spPr>
          <a:xfrm>
            <a:off x="327240" y="723240"/>
            <a:ext cx="7850160" cy="11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10000"/>
              </a:lnSpc>
            </a:pPr>
            <a:r>
              <a:rPr lang="ru-RU" sz="3640" b="1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ОФИЦИАЛЬНЫЕ РЕСУРСЫ</a:t>
            </a:r>
            <a:endParaRPr lang="ru-RU" sz="36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9" name="CustomShape 2"/>
          <p:cNvSpPr/>
          <p:nvPr/>
        </p:nvSpPr>
        <p:spPr>
          <a:xfrm>
            <a:off x="327240" y="4712400"/>
            <a:ext cx="72925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</a:pP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Учитесь у </a:t>
            </a: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профессионалов – выбирайте </a:t>
            </a:r>
            <a:r>
              <a:rPr lang="ru-RU" sz="1820" b="0" u="none" strike="noStrike">
                <a:solidFill>
                  <a:srgbClr val="F2F2F2"/>
                </a:solidFill>
                <a:effectLst/>
                <a:uFillTx/>
                <a:latin typeface="Arial"/>
                <a:ea typeface="Arial"/>
              </a:rPr>
              <a:t>IBS!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0" name="Рисунок 2"/>
          <p:cNvPicPr/>
          <p:nvPr/>
        </p:nvPicPr>
        <p:blipFill>
          <a:blip r:embed="rId1"/>
          <a:stretch/>
        </p:blipFill>
        <p:spPr>
          <a:xfrm>
            <a:off x="444240" y="2251080"/>
            <a:ext cx="2256480" cy="225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1" name="CustomShape 3"/>
          <p:cNvSpPr/>
          <p:nvPr/>
        </p:nvSpPr>
        <p:spPr>
          <a:xfrm>
            <a:off x="3133440" y="2542320"/>
            <a:ext cx="3855240" cy="11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50000"/>
              </a:lnSpc>
            </a:pPr>
            <a:r>
              <a:rPr lang="ru-RU" sz="1820" b="0" u="none" strike="noStrike">
                <a:solidFill>
                  <a:srgbClr val="FFFFFF"/>
                </a:solidFill>
                <a:effectLst/>
                <a:uFillTx/>
                <a:latin typeface="Arial"/>
                <a:ea typeface="DejaVu Sans"/>
              </a:rPr>
              <a:t>Оставьте вашу обратную связь. Вы поможете нам разрабатывать лучшее обучение для вас! </a:t>
            </a:r>
            <a:endParaRPr lang="ru-RU" sz="18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30665</TotalTime>
  <Application>LibreOffice/26.2.4.2$Windows_X86_64 LibreOffice_project/0229ac93fcf0d7cbc6376066c6f35021cef002dc</Application>
  <AppVersion>15.0000</AppVersion>
  <Words>1035</Words>
  <Paragraphs>213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Селиверстова Алёна Евгеньевна</dc:creator>
  <dc:description/>
  <dc:language>ru-RU</dc:language>
  <cp:lastModifiedBy/>
  <cp:lastPrinted>2017-08-15T06:16:03Z</cp:lastPrinted>
  <dcterms:modified xsi:type="dcterms:W3CDTF">2026-06-29T18:42:10Z</dcterms:modified>
  <cp:revision>1814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LinksUpToDate">
    <vt:bool>0</vt:bool>
  </property>
  <property fmtid="{D5CDD505-2E9C-101B-9397-08002B2CF9AE}" pid="5" name="MMClips">
    <vt:i4>0</vt:i4>
  </property>
  <property fmtid="{D5CDD505-2E9C-101B-9397-08002B2CF9AE}" pid="6" name="Notes">
    <vt:i4>0</vt:i4>
  </property>
  <property fmtid="{D5CDD505-2E9C-101B-9397-08002B2CF9AE}" pid="7" name="PresentationFormat">
    <vt:lpwstr>Произвольный</vt:lpwstr>
  </property>
  <property fmtid="{D5CDD505-2E9C-101B-9397-08002B2CF9AE}" pid="8" name="ScaleCrop">
    <vt:bool>0</vt:bool>
  </property>
  <property fmtid="{D5CDD505-2E9C-101B-9397-08002B2CF9AE}" pid="9" name="ShareDoc">
    <vt:bool>0</vt:bool>
  </property>
  <property fmtid="{D5CDD505-2E9C-101B-9397-08002B2CF9AE}" pid="10" name="Slides">
    <vt:i4>14</vt:i4>
  </property>
</Properties>
</file>