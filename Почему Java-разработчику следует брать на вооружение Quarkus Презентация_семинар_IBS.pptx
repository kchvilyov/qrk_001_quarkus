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6.svg" ContentType="image/svg"/>
  <Override PartName="/ppt/media/image34.svg" ContentType="image/svg"/>
  <Override PartName="/ppt/media/image18.svg" ContentType="image/svg"/>
  <Override PartName="/ppt/media/image30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media/image32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2" r:id="rId6"/>
    <p:sldMasterId id="2147483715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1.xml"/><Relationship Id="rId7" Type="http://schemas.openxmlformats.org/officeDocument/2006/relationships/slideMaster" Target="slideMasters/slideMaster63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120" cy="11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2"/>
          <p:cNvSpPr/>
          <p:nvPr/>
        </p:nvSpPr>
        <p:spPr>
          <a:xfrm>
            <a:off x="0" y="474480"/>
            <a:ext cx="139320" cy="204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BD4123F-AB54-461F-8C6F-F208053E7F4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4BF1B6F-2FB5-4C48-9D9A-9D3D2684389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120" cy="11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F9FCDF8-51B9-481D-BB17-5E384BD9C75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B921BEA-4432-4DD3-AF3D-EDEA870D843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E1D24B8-DF59-49A1-A5FB-E0EF3773DCE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2F27EA4-1054-452E-B6B2-803190F80B7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DD2F38F-E608-4BD6-BC26-BBA91768385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9A2A59E-05B7-40C9-80D1-3D5655CBF2B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37D2944-628C-4E52-A65B-E20898EEC12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8EE9369-480C-4570-802B-FCE66759F41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EA70ABA-0025-457D-976C-C18D10D26EF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7C28C4F-C702-4BF2-9259-DC1114F29E3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BF6053B-B929-42D6-9093-33DEA38474F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3EA3446-C634-4C24-913F-C13F2F0BB167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92ED96E-D7F9-487F-8941-FF6B19FDAC26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120" cy="11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45A5551-978F-4076-849D-643AAA5BDEF3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261B900-FEF3-40B9-ACA4-8CBEFBC789FC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199FBB6-B5CC-4632-9376-E1BABED25DC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68F9CEB-B049-45CF-9648-DE97B2EAAAA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6E2131B-9112-4A39-8B0E-FF130F4A361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8A89CE8-49FC-44CC-9B31-E9B26ECABFC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B16B6A4-0279-427A-93F3-31B0449A9FAB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DD1268F-CA9E-4113-B1CF-D5C87D286E16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360" cy="68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1"/>
          <p:cNvSpPr/>
          <p:nvPr/>
        </p:nvSpPr>
        <p:spPr>
          <a:xfrm>
            <a:off x="6595560" y="0"/>
            <a:ext cx="5280120" cy="685152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CustomShape 2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3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7334F6E-3B89-47A8-A787-9A42CAF02D07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98FF2BD-73B8-47B5-8124-24A89D69B3C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06D0762-C243-45D5-9CB9-EFB418C18DE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0356DD3-AEA8-414A-A3DA-8233D913FBD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D2026F4-CD91-4AFC-96D3-A4668872050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120" cy="11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2A0491F-E760-49A4-BF4C-AD55D516316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0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8895B19-B8CA-4152-8DCD-89A466A544F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120" cy="11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4B7F87B-F920-4A9A-A6B5-59E68370D23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BB995FC-759B-418B-88B8-C2AD4778EFB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BE3A818-668E-4739-847B-EBE063FD91E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120" cy="11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AF48468-06EE-4E5E-8319-F3718BA1E65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256C2D1-195F-4D67-931D-54A1FA7619C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1A46F4E-D9A3-466F-A106-A5EA54AE53F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F81E1AC-3789-4E5E-B5B5-B40BCFCD599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CustomShape 1"/>
          <p:cNvSpPr/>
          <p:nvPr/>
        </p:nvSpPr>
        <p:spPr>
          <a:xfrm>
            <a:off x="0" y="233640"/>
            <a:ext cx="232920" cy="23832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CustomShape 2"/>
          <p:cNvSpPr/>
          <p:nvPr/>
        </p:nvSpPr>
        <p:spPr>
          <a:xfrm>
            <a:off x="11272680" y="6412320"/>
            <a:ext cx="588600" cy="20844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C8C4B0F-1456-4DE6-992C-6EC2F33C27D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040" cy="43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5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120" cy="11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8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4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6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0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2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6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24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CustomShape 1"/>
          <p:cNvSpPr/>
          <p:nvPr/>
        </p:nvSpPr>
        <p:spPr>
          <a:xfrm>
            <a:off x="6706800" y="0"/>
            <a:ext cx="5168880" cy="685152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CustomShape 2"/>
          <p:cNvSpPr/>
          <p:nvPr/>
        </p:nvSpPr>
        <p:spPr>
          <a:xfrm>
            <a:off x="0" y="2273040"/>
            <a:ext cx="131040" cy="219996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040" cy="2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9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0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4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5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7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1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2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5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6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7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87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2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9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4960" cy="189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1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4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8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69440" cy="39646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0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7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7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6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87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4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7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8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1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2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5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6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7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4960" cy="39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8760" cy="124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56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7" name="CustomShape 1"/>
          <p:cNvSpPr/>
          <p:nvPr/>
        </p:nvSpPr>
        <p:spPr>
          <a:xfrm>
            <a:off x="0" y="0"/>
            <a:ext cx="11875680" cy="683676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CustomShape 2"/>
          <p:cNvSpPr/>
          <p:nvPr/>
        </p:nvSpPr>
        <p:spPr>
          <a:xfrm>
            <a:off x="0" y="607320"/>
            <a:ext cx="150480" cy="11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240" tIns="45000" rIns="75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320" cy="67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0" name="CustomShape 3"/>
          <p:cNvSpPr/>
          <p:nvPr/>
        </p:nvSpPr>
        <p:spPr>
          <a:xfrm>
            <a:off x="3522600" y="6050160"/>
            <a:ext cx="16592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4"/>
          <p:cNvSpPr/>
          <p:nvPr/>
        </p:nvSpPr>
        <p:spPr>
          <a:xfrm>
            <a:off x="6052320" y="605016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CustomShape 5"/>
          <p:cNvSpPr/>
          <p:nvPr/>
        </p:nvSpPr>
        <p:spPr>
          <a:xfrm>
            <a:off x="5714640" y="6022440"/>
            <a:ext cx="2304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160" cy="9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CustomShape 6"/>
          <p:cNvSpPr/>
          <p:nvPr/>
        </p:nvSpPr>
        <p:spPr>
          <a:xfrm>
            <a:off x="348804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CustomShape 7"/>
          <p:cNvSpPr/>
          <p:nvPr/>
        </p:nvSpPr>
        <p:spPr>
          <a:xfrm>
            <a:off x="6052320" y="6346800"/>
            <a:ext cx="2035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8"/>
          <p:cNvSpPr/>
          <p:nvPr/>
        </p:nvSpPr>
        <p:spPr>
          <a:xfrm>
            <a:off x="5719320" y="6319080"/>
            <a:ext cx="235800" cy="23580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240" cy="16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400" cy="23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400" cy="235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9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2.xml"/>
</Relationships>
</file>

<file path=ppt/slideMasters/_rels/slideMaster63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</p:sldMaster>
</file>

<file path=ppt/slideMasters/slideMaster6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4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4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4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4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4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slideLayout" Target="../slideLayouts/slideLayout5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slideLayout" Target="../slideLayouts/slideLayout4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svg"/><Relationship Id="rId3" Type="http://schemas.openxmlformats.org/officeDocument/2006/relationships/slideLayout" Target="../slideLayouts/slideLayout4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svg"/><Relationship Id="rId3" Type="http://schemas.openxmlformats.org/officeDocument/2006/relationships/slideLayout" Target="../slideLayouts/slideLayout4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svg"/><Relationship Id="rId3" Type="http://schemas.openxmlformats.org/officeDocument/2006/relationships/slideLayout" Target="../slideLayouts/slideLayout4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6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609120" y="2031480"/>
            <a:ext cx="7849800" cy="11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609120" y="3528360"/>
            <a:ext cx="78498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2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3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4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5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6"/>
          <p:cNvSpPr/>
          <p:nvPr/>
        </p:nvSpPr>
        <p:spPr>
          <a:xfrm>
            <a:off x="417240" y="26388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7"/>
          <p:cNvSpPr/>
          <p:nvPr/>
        </p:nvSpPr>
        <p:spPr>
          <a:xfrm>
            <a:off x="603720" y="735840"/>
            <a:ext cx="5888880" cy="74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8"/>
          <p:cNvSpPr/>
          <p:nvPr/>
        </p:nvSpPr>
        <p:spPr>
          <a:xfrm>
            <a:off x="542520" y="1646280"/>
            <a:ext cx="5884560" cy="18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8480" cy="538560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21" name="CustomShape 9"/>
          <p:cNvSpPr/>
          <p:nvPr/>
        </p:nvSpPr>
        <p:spPr>
          <a:xfrm>
            <a:off x="542520" y="5337360"/>
            <a:ext cx="4400280" cy="89712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0"/>
          <p:cNvSpPr/>
          <p:nvPr/>
        </p:nvSpPr>
        <p:spPr>
          <a:xfrm>
            <a:off x="750240" y="5449680"/>
            <a:ext cx="409032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11"/>
          <p:cNvSpPr/>
          <p:nvPr/>
        </p:nvSpPr>
        <p:spPr>
          <a:xfrm>
            <a:off x="1078200" y="5749560"/>
            <a:ext cx="167652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12"/>
          <p:cNvSpPr/>
          <p:nvPr/>
        </p:nvSpPr>
        <p:spPr>
          <a:xfrm>
            <a:off x="839880" y="5862240"/>
            <a:ext cx="215640" cy="122400"/>
          </a:xfrm>
          <a:custGeom>
            <a:avLst/>
            <a:gdLst>
              <a:gd name="textAreaLeft" fmla="*/ 0 w 215640"/>
              <a:gd name="textAreaRight" fmla="*/ 217800 w 215640"/>
              <a:gd name="textAreaTop" fmla="*/ 0 h 122400"/>
              <a:gd name="textAreaBottom" fmla="*/ 124560 h 12240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13"/>
          <p:cNvSpPr/>
          <p:nvPr/>
        </p:nvSpPr>
        <p:spPr>
          <a:xfrm>
            <a:off x="858960" y="5845320"/>
            <a:ext cx="177480" cy="54720"/>
          </a:xfrm>
          <a:custGeom>
            <a:avLst/>
            <a:gdLst>
              <a:gd name="textAreaLeft" fmla="*/ 0 w 177480"/>
              <a:gd name="textAreaRight" fmla="*/ 179640 w 177480"/>
              <a:gd name="textAreaTop" fmla="*/ 0 h 54720"/>
              <a:gd name="textAreaBottom" fmla="*/ 56880 h 5472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8920" tIns="11880" rIns="8892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14"/>
          <p:cNvSpPr/>
          <p:nvPr/>
        </p:nvSpPr>
        <p:spPr>
          <a:xfrm>
            <a:off x="3002400" y="5789520"/>
            <a:ext cx="1350000" cy="23508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15"/>
          <p:cNvSpPr/>
          <p:nvPr/>
        </p:nvSpPr>
        <p:spPr>
          <a:xfrm>
            <a:off x="8468280" y="3501720"/>
            <a:ext cx="131472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6360" cy="6702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27240" y="720000"/>
            <a:ext cx="58888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27240" y="340920"/>
            <a:ext cx="58842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3"/>
          <p:cNvSpPr/>
          <p:nvPr/>
        </p:nvSpPr>
        <p:spPr>
          <a:xfrm>
            <a:off x="327240" y="1887840"/>
            <a:ext cx="5131440" cy="16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CustomShape 1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2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3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4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5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6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7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8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9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0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1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12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13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14"/>
          <p:cNvSpPr/>
          <p:nvPr/>
        </p:nvSpPr>
        <p:spPr>
          <a:xfrm>
            <a:off x="599400" y="1029240"/>
            <a:ext cx="1074852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15"/>
          <p:cNvSpPr/>
          <p:nvPr/>
        </p:nvSpPr>
        <p:spPr>
          <a:xfrm>
            <a:off x="612720" y="1888200"/>
            <a:ext cx="10748520" cy="28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3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4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5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9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0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1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612720" y="990000"/>
            <a:ext cx="1074852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15"/>
          <p:cNvSpPr/>
          <p:nvPr/>
        </p:nvSpPr>
        <p:spPr>
          <a:xfrm>
            <a:off x="612720" y="1869480"/>
            <a:ext cx="10748520" cy="28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Архитектурная карта среды Java, сравнение по ключевым признакам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Среда разработки для облачной среды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асинхронная обработка SOAP, REST, JPA запросов в микросервисах.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CustomShape 1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2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3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4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5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6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7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8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9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0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1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12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13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14"/>
          <p:cNvSpPr/>
          <p:nvPr/>
        </p:nvSpPr>
        <p:spPr>
          <a:xfrm>
            <a:off x="612720" y="646200"/>
            <a:ext cx="1074852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15"/>
          <p:cNvSpPr/>
          <p:nvPr/>
        </p:nvSpPr>
        <p:spPr>
          <a:xfrm>
            <a:off x="612720" y="1488600"/>
            <a:ext cx="10748520" cy="12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356760"/>
            <a:ext cx="11877840" cy="5942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43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44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73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74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75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76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77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78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79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80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81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82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83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84"/>
          <p:cNvSpPr/>
          <p:nvPr/>
        </p:nvSpPr>
        <p:spPr>
          <a:xfrm>
            <a:off x="612720" y="646200"/>
            <a:ext cx="1074852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85"/>
          <p:cNvSpPr/>
          <p:nvPr/>
        </p:nvSpPr>
        <p:spPr>
          <a:xfrm>
            <a:off x="612720" y="1488600"/>
            <a:ext cx="10748520" cy="12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626480" y="180000"/>
            <a:ext cx="8702280" cy="647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CustomShape 17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18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19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20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21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22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23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24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25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26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27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28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29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86"/>
          <p:cNvSpPr/>
          <p:nvPr/>
        </p:nvSpPr>
        <p:spPr>
          <a:xfrm>
            <a:off x="612720" y="646200"/>
            <a:ext cx="1074852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87"/>
          <p:cNvSpPr/>
          <p:nvPr/>
        </p:nvSpPr>
        <p:spPr>
          <a:xfrm>
            <a:off x="612720" y="1488600"/>
            <a:ext cx="10748520" cy="12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0000" y="0"/>
            <a:ext cx="10798920" cy="68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CustomShape 88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103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104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105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106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107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8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09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10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11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112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113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114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115"/>
          <p:cNvSpPr/>
          <p:nvPr/>
        </p:nvSpPr>
        <p:spPr>
          <a:xfrm>
            <a:off x="612720" y="646200"/>
            <a:ext cx="1074852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116"/>
          <p:cNvSpPr/>
          <p:nvPr/>
        </p:nvSpPr>
        <p:spPr>
          <a:xfrm>
            <a:off x="612720" y="1488600"/>
            <a:ext cx="10748520" cy="12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80000"/>
            <a:ext cx="9898920" cy="658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CustomShape 1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2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4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5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6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7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8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9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10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11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12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13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14"/>
          <p:cNvSpPr/>
          <p:nvPr/>
        </p:nvSpPr>
        <p:spPr>
          <a:xfrm>
            <a:off x="612720" y="990000"/>
            <a:ext cx="1074852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15"/>
          <p:cNvSpPr/>
          <p:nvPr/>
        </p:nvSpPr>
        <p:spPr>
          <a:xfrm>
            <a:off x="612720" y="1869480"/>
            <a:ext cx="10748520" cy="28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автоматическое масштабирование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облачных систем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CustomShape 1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2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3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4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5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6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8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9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10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11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12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13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ВОЗМОЖНОЕ РЕШЕНИЕ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14"/>
          <p:cNvSpPr/>
          <p:nvPr/>
        </p:nvSpPr>
        <p:spPr>
          <a:xfrm>
            <a:off x="612720" y="990000"/>
            <a:ext cx="1074852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Что такое Quarkus?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15"/>
          <p:cNvSpPr/>
          <p:nvPr/>
        </p:nvSpPr>
        <p:spPr>
          <a:xfrm>
            <a:off x="612720" y="1869480"/>
            <a:ext cx="10748520" cy="28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Специально созданный для облачной среды и Kubernetes каркас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 Быстрый старт (до миллисекунд)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60000" y="144720"/>
            <a:ext cx="11520000" cy="6155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CustomShape 1"/>
          <p:cNvSpPr/>
          <p:nvPr/>
        </p:nvSpPr>
        <p:spPr>
          <a:xfrm>
            <a:off x="612720" y="3791880"/>
            <a:ext cx="588456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CustomShape 2"/>
          <p:cNvSpPr/>
          <p:nvPr/>
        </p:nvSpPr>
        <p:spPr>
          <a:xfrm>
            <a:off x="496440" y="2260800"/>
            <a:ext cx="5884560" cy="12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548360" y="0"/>
            <a:ext cx="8791920" cy="683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CustomShape 1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2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3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4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5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6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7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8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9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10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11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12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CustomShape 13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5360" cy="496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CustomShape 30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31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32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33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34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35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36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37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38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39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40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41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CustomShape 42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6880" cy="5913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CustomShape 60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61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62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63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CustomShape 64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CustomShape 65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CustomShape 66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CustomShape 67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CustomShape 68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CustomShape 69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CustomShape 70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CustomShape 71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CustomShape 72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1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6880" cy="5342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CustomShape 1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ustomShape 2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CustomShape 3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CustomShape 4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CustomShape 5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CustomShape 6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CustomShape 7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CustomShape 8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CustomShape 9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CustomShape 10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CustomShape 11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CustomShape 12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CustomShape 13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61000" y="99720"/>
            <a:ext cx="11437920" cy="6199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CustomShape 45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CustomShape 46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CustomShape 47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CustomShape 48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ustomShape 49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CustomShape 50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CustomShape 51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CustomShape 52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CustomShape 53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CustomShape 54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CustomShape 55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CustomShape 56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CustomShape 57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CustomShape 58"/>
          <p:cNvSpPr/>
          <p:nvPr/>
        </p:nvSpPr>
        <p:spPr>
          <a:xfrm>
            <a:off x="612720" y="646200"/>
            <a:ext cx="1074852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CustomShape 59"/>
          <p:cNvSpPr/>
          <p:nvPr/>
        </p:nvSpPr>
        <p:spPr>
          <a:xfrm>
            <a:off x="600120" y="1308600"/>
            <a:ext cx="1074852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Spring Boot https://github.com/kchvilyov/qrk_001_spring/tree/java_hello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Quarkus https://github.com/kchvilyov/qrk_001_quarkus/tree/java_hello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CustomShape 90"/>
          <p:cNvSpPr/>
          <p:nvPr/>
        </p:nvSpPr>
        <p:spPr>
          <a:xfrm>
            <a:off x="6757560" y="2544480"/>
            <a:ext cx="15174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CustomShape 91"/>
          <p:cNvSpPr/>
          <p:nvPr/>
        </p:nvSpPr>
        <p:spPr>
          <a:xfrm>
            <a:off x="6757560" y="3038760"/>
            <a:ext cx="18788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CustomShape 92"/>
          <p:cNvSpPr/>
          <p:nvPr/>
        </p:nvSpPr>
        <p:spPr>
          <a:xfrm>
            <a:off x="6757560" y="35668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CustomShape 93"/>
          <p:cNvSpPr/>
          <p:nvPr/>
        </p:nvSpPr>
        <p:spPr>
          <a:xfrm>
            <a:off x="6757560" y="4061160"/>
            <a:ext cx="187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CustomShape 94"/>
          <p:cNvSpPr/>
          <p:nvPr/>
        </p:nvSpPr>
        <p:spPr>
          <a:xfrm>
            <a:off x="6766200" y="48301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CustomShape 95"/>
          <p:cNvSpPr/>
          <p:nvPr/>
        </p:nvSpPr>
        <p:spPr>
          <a:xfrm>
            <a:off x="6766200" y="5277240"/>
            <a:ext cx="16930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CustomShape 96"/>
          <p:cNvSpPr/>
          <p:nvPr/>
        </p:nvSpPr>
        <p:spPr>
          <a:xfrm>
            <a:off x="8996760" y="481248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CustomShape 97"/>
          <p:cNvSpPr/>
          <p:nvPr/>
        </p:nvSpPr>
        <p:spPr>
          <a:xfrm>
            <a:off x="8996760" y="5301720"/>
            <a:ext cx="22237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CustomShape 98"/>
          <p:cNvSpPr/>
          <p:nvPr/>
        </p:nvSpPr>
        <p:spPr>
          <a:xfrm>
            <a:off x="8992080" y="3563280"/>
            <a:ext cx="11145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CustomShape 99"/>
          <p:cNvSpPr/>
          <p:nvPr/>
        </p:nvSpPr>
        <p:spPr>
          <a:xfrm>
            <a:off x="8992080" y="4057560"/>
            <a:ext cx="222372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CustomShape 100"/>
          <p:cNvSpPr/>
          <p:nvPr/>
        </p:nvSpPr>
        <p:spPr>
          <a:xfrm>
            <a:off x="9006840" y="2551320"/>
            <a:ext cx="16358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CustomShape 101"/>
          <p:cNvSpPr/>
          <p:nvPr/>
        </p:nvSpPr>
        <p:spPr>
          <a:xfrm>
            <a:off x="9006840" y="3045600"/>
            <a:ext cx="19994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CustomShape 102"/>
          <p:cNvSpPr/>
          <p:nvPr/>
        </p:nvSpPr>
        <p:spPr>
          <a:xfrm>
            <a:off x="612720" y="259560"/>
            <a:ext cx="5884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CustomShape 117"/>
          <p:cNvSpPr/>
          <p:nvPr/>
        </p:nvSpPr>
        <p:spPr>
          <a:xfrm>
            <a:off x="612720" y="646200"/>
            <a:ext cx="1074852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CustomShape 118"/>
          <p:cNvSpPr/>
          <p:nvPr/>
        </p:nvSpPr>
        <p:spPr>
          <a:xfrm>
            <a:off x="600120" y="1308600"/>
            <a:ext cx="1074852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📄 Официальная документация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Guides — quarkus.io/guides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Reference — docs.spring.io/spring-boot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🎥 Доклады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Андрей Кулешов — «Не Spring'ом единым? Смотрим на Quarkus»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"Battle of the frameworks" — Devoxx Greece 2023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📚 Книги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Cookbook (O'Reilly)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in Action (Manning)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💬 Сообщества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GitHub Discussions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Stack Overflow (тег: quarkus)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CustomShape 1"/>
          <p:cNvSpPr/>
          <p:nvPr/>
        </p:nvSpPr>
        <p:spPr>
          <a:xfrm>
            <a:off x="599040" y="2178360"/>
            <a:ext cx="7849800" cy="11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CustomShape 2"/>
          <p:cNvSpPr/>
          <p:nvPr/>
        </p:nvSpPr>
        <p:spPr>
          <a:xfrm>
            <a:off x="599040" y="2178360"/>
            <a:ext cx="9342000" cy="6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CustomShape 3"/>
          <p:cNvSpPr/>
          <p:nvPr/>
        </p:nvSpPr>
        <p:spPr>
          <a:xfrm>
            <a:off x="1338120" y="3420000"/>
            <a:ext cx="604152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CustomShape 1"/>
          <p:cNvSpPr/>
          <p:nvPr/>
        </p:nvSpPr>
        <p:spPr>
          <a:xfrm>
            <a:off x="327240" y="723240"/>
            <a:ext cx="7849800" cy="11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CustomShape 2"/>
          <p:cNvSpPr/>
          <p:nvPr/>
        </p:nvSpPr>
        <p:spPr>
          <a:xfrm>
            <a:off x="327240" y="4712400"/>
            <a:ext cx="7292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1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6120" cy="22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2" name="CustomShape 3"/>
          <p:cNvSpPr/>
          <p:nvPr/>
        </p:nvSpPr>
        <p:spPr>
          <a:xfrm>
            <a:off x="3133440" y="2542320"/>
            <a:ext cx="3854880" cy="11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30858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2026-06-30T17:44:09Z</dcterms:modified>
  <cp:revision>1818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