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presentation.xml" ContentType="application/vnd.openxmlformats-officedocument.presentationml.presentation.main+xml"/>
  <Override PartName="/ppt/slideMasters/slideMaster37.xml" ContentType="application/vnd.openxmlformats-officedocument.presentationml.slideMaster+xml"/>
  <Override PartName="/ppt/slideMasters/slideMaster6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50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media/image16.svg" ContentType="image/svg"/>
  <Override PartName="/ppt/media/image18.svg" ContentType="image/svg"/>
  <Override PartName="/ppt/media/image30.svg" ContentType="image/svg"/>
  <Override PartName="/ppt/media/image20.svg" ContentType="image/svg"/>
  <Override PartName="/ppt/media/image22.svg" ContentType="image/svg"/>
  <Override PartName="/ppt/media/image24.svg" ContentType="image/svg"/>
  <Override PartName="/ppt/media/image26.svg" ContentType="image/svg"/>
  <Override PartName="/ppt/media/image28.svg" ContentType="image/svg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2" r:id="rId6"/>
    <p:sldMasterId id="2147483715" r:id="rId7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1879263" cy="6840538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37.xml"/><Relationship Id="rId6" Type="http://schemas.openxmlformats.org/officeDocument/2006/relationships/slideMaster" Target="slideMasters/slideMaster50.xml"/><Relationship Id="rId7" Type="http://schemas.openxmlformats.org/officeDocument/2006/relationships/slideMaster" Target="slideMasters/slideMaster62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3.png"/><Relationship Id="rId9" Type="http://schemas.openxmlformats.org/officeDocument/2006/relationships/image" Target="../media/image3.png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B7FA365-A6BE-4FC1-9CC3-7E4F85D72576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0" name=""/>
          <p:cNvPicPr/>
          <p:nvPr/>
        </p:nvPicPr>
        <p:blipFill>
          <a:blip r:embed="rId3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1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7057952-30A3-4809-B228-F6574F2830B2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5F238A3-4A18-477B-B1BC-AB54FD090225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4975B07-0E75-43F8-9702-C76C00943383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F6630DE-6CC3-4C4B-A811-F7A29BB0FA55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A28D79C-5242-4C79-ABF2-E152CBA2A5CB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CE2DF1B-427F-4BE9-84BC-61D09BF4C541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1644A46-4137-46FA-8D6E-37BBC388BCBD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E486479-0461-47D5-942C-79DC8E59E80E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0D65F6D-09B3-40BE-ABF1-8486860C516A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5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E53281A-835E-4EB3-86ED-93EBB9A53C48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CABB2DC-2B97-422C-AC5A-5A5304A78810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B4F60FC-5EDC-474A-B12B-0EE2AA7665F8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5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E97A4EF-A261-4216-801F-FB922AC20D40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2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3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6487F549-D628-4D06-BD43-D2E74DFED36D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7B5AF4A-19D1-426C-8585-6DAF249E9B75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5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6A0848D-0BD0-4137-BED0-3297D2C5CB96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1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BFEE7FB-36FA-4CA3-A814-A802D234DC64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3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8F8A559-62D4-4196-B5F6-253472EEE6AD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6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B09165E-C4C8-4A7D-878A-822A33904EE5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2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9B65CD13-E6C1-4464-8F65-BCC0A19F5189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7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528B1A2-06DF-4667-A103-74EC87A1B88E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6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EC63FC2-A048-4B9F-A1A9-97B2D9906BDE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5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3F2FE82-A38F-4FCF-81C1-4ACEBF687275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4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C0390A9-31FF-42EE-8D3C-0F4374F71C82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4" name=""/>
          <p:cNvPicPr/>
          <p:nvPr/>
        </p:nvPicPr>
        <p:blipFill>
          <a:blip r:embed="rId3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5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FA7F795-5A1E-44D9-8741-E1C80F07DC50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9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6194419-89C2-4CCE-9715-B4E8F8B03041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CE82487-9DA8-47CE-AD4C-BFEC7E3D7FAF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AF12655-C4C2-44AD-83AE-F60BEAFBAA0F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3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B054A90-0B34-4EF5-9556-152A05194212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ECF7DF2-50FF-4519-BC4E-CD6A43AF8771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7A5587E-2AA2-481A-8104-58BE3D11428E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C4AE557-C433-45DC-B8B4-DF683FD2AB05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12E1856B-0DF0-4789-9FF8-77E7D1A76F6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2AF7F9F-0665-492B-A5CB-9A179694BAFA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A578800-1375-4DAB-8235-21E5CEC0DBF2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1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27161DE-C8F5-41C9-AF72-3F9108A47D1D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CEE012E-E6AB-4B34-A6B1-24467647057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8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3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4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6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3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5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9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0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1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2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4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5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7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8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0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2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3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5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9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6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8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1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3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4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5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7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2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3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5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1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3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9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6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8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9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2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3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6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7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8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3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4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6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7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0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1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4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5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6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1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4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5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8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9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2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3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4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9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0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2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3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6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7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0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1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2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6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7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9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0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3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4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7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8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9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5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6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8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9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2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3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6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7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8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2" name=""/>
          <p:cNvPicPr/>
          <p:nvPr/>
        </p:nvPicPr>
        <p:blipFill>
          <a:blip r:embed="rId8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3" name=""/>
          <p:cNvPicPr/>
          <p:nvPr/>
        </p:nvPicPr>
        <p:blipFill>
          <a:blip r:embed="rId9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4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5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7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8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1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2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5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6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7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8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9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1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2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5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6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9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0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1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3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4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6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7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0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4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5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6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9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0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2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3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6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7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0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1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2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7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9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0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3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4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7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8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9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1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4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5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8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9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2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3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4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9.xml"/><Relationship Id="rId15" Type="http://schemas.openxmlformats.org/officeDocument/2006/relationships/slideLayout" Target="../slideLayouts/slideLayout50.xml"/>
</Relationships>
</file>

<file path=ppt/slideMasters/_rels/slideMaster50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1.xml"/><Relationship Id="rId3" Type="http://schemas.openxmlformats.org/officeDocument/2006/relationships/slideLayout" Target="../slideLayouts/slideLayout52.xml"/><Relationship Id="rId4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4.xml"/><Relationship Id="rId6" Type="http://schemas.openxmlformats.org/officeDocument/2006/relationships/slideLayout" Target="../slideLayouts/slideLayout55.xml"/><Relationship Id="rId7" Type="http://schemas.openxmlformats.org/officeDocument/2006/relationships/slideLayout" Target="../slideLayouts/slideLayout56.xml"/><Relationship Id="rId8" Type="http://schemas.openxmlformats.org/officeDocument/2006/relationships/slideLayout" Target="../slideLayouts/slideLayout57.xml"/><Relationship Id="rId9" Type="http://schemas.openxmlformats.org/officeDocument/2006/relationships/slideLayout" Target="../slideLayouts/slideLayout58.xml"/><Relationship Id="rId10" Type="http://schemas.openxmlformats.org/officeDocument/2006/relationships/slideLayout" Target="../slideLayouts/slideLayout59.xml"/><Relationship Id="rId11" Type="http://schemas.openxmlformats.org/officeDocument/2006/relationships/slideLayout" Target="../slideLayouts/slideLayout60.xml"/><Relationship Id="rId12" Type="http://schemas.openxmlformats.org/officeDocument/2006/relationships/slideLayout" Target="../slideLayouts/slideLayout61.xml"/><Relationship Id="rId13" Type="http://schemas.openxmlformats.org/officeDocument/2006/relationships/slideLayout" Target="../slideLayouts/slideLayout62.xml"/>
</Relationships>
</file>

<file path=ppt/slideMasters/_rels/slideMaster62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3.xml"/><Relationship Id="rId3" Type="http://schemas.openxmlformats.org/officeDocument/2006/relationships/slideLayout" Target="../slideLayouts/slideLayout64.xml"/><Relationship Id="rId4" Type="http://schemas.openxmlformats.org/officeDocument/2006/relationships/slideLayout" Target="../slideLayouts/slideLayout65.xml"/><Relationship Id="rId5" Type="http://schemas.openxmlformats.org/officeDocument/2006/relationships/slideLayout" Target="../slideLayouts/slideLayout66.xml"/><Relationship Id="rId6" Type="http://schemas.openxmlformats.org/officeDocument/2006/relationships/slideLayout" Target="../slideLayouts/slideLayout67.xml"/><Relationship Id="rId7" Type="http://schemas.openxmlformats.org/officeDocument/2006/relationships/slideLayout" Target="../slideLayouts/slideLayout68.xml"/><Relationship Id="rId8" Type="http://schemas.openxmlformats.org/officeDocument/2006/relationships/slideLayout" Target="../slideLayouts/slideLayout69.xml"/><Relationship Id="rId9" Type="http://schemas.openxmlformats.org/officeDocument/2006/relationships/slideLayout" Target="../slideLayouts/slideLayout70.xml"/><Relationship Id="rId10" Type="http://schemas.openxmlformats.org/officeDocument/2006/relationships/slideLayout" Target="../slideLayouts/slideLayout71.xml"/><Relationship Id="rId11" Type="http://schemas.openxmlformats.org/officeDocument/2006/relationships/slideLayout" Target="../slideLayouts/slideLayout72.xml"/><Relationship Id="rId12" Type="http://schemas.openxmlformats.org/officeDocument/2006/relationships/slideLayout" Target="../slideLayouts/slideLayout73.xml"/><Relationship Id="rId13" Type="http://schemas.openxmlformats.org/officeDocument/2006/relationships/slideLayout" Target="../slideLayouts/slideLayout7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  <p:sldLayoutId id="2147483701" r:id="rId15"/>
  </p:sldLayoutIdLst>
</p:sldMaster>
</file>

<file path=ppt/slideMasters/slideMaster5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</p:sldLayoutIdLst>
</p:sldMaster>
</file>

<file path=ppt/slideMasters/slideMaster6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hyperlink" Target="mailto:education@ibs.ru" TargetMode="External"/><Relationship Id="rId3" Type="http://schemas.openxmlformats.org/officeDocument/2006/relationships/image" Target="../media/image14.jpeg"/><Relationship Id="rId4" Type="http://schemas.openxmlformats.org/officeDocument/2006/relationships/slideLayout" Target="../slideLayouts/slideLayout1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slideLayout" Target="../slideLayouts/slideLayout3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svg"/><Relationship Id="rId3" Type="http://schemas.openxmlformats.org/officeDocument/2006/relationships/slideLayout" Target="../slideLayouts/slideLayout4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svg"/><Relationship Id="rId3" Type="http://schemas.openxmlformats.org/officeDocument/2006/relationships/slideLayout" Target="../slideLayouts/slideLayout5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svg"/><Relationship Id="rId3" Type="http://schemas.openxmlformats.org/officeDocument/2006/relationships/slideLayout" Target="../slideLayouts/slideLayout50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svg"/><Relationship Id="rId3" Type="http://schemas.openxmlformats.org/officeDocument/2006/relationships/slideLayout" Target="../slideLayouts/slideLayout5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svg"/><Relationship Id="rId3" Type="http://schemas.openxmlformats.org/officeDocument/2006/relationships/slideLayout" Target="../slideLayouts/slideLayout38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svg"/><Relationship Id="rId3" Type="http://schemas.openxmlformats.org/officeDocument/2006/relationships/slideLayout" Target="../slideLayouts/slideLayout4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svg"/><Relationship Id="rId3" Type="http://schemas.openxmlformats.org/officeDocument/2006/relationships/slideLayout" Target="../slideLayouts/slideLayout4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6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CustomShape 1"/>
          <p:cNvSpPr/>
          <p:nvPr/>
        </p:nvSpPr>
        <p:spPr>
          <a:xfrm>
            <a:off x="609120" y="2031480"/>
            <a:ext cx="7850880" cy="11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Почему Java-разработчику следует брать на вооружение Quarkus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CustomShape 2"/>
          <p:cNvSpPr/>
          <p:nvPr/>
        </p:nvSpPr>
        <p:spPr>
          <a:xfrm>
            <a:off x="609120" y="3528360"/>
            <a:ext cx="7850880" cy="47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34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9 июня 2026 г.</a:t>
            </a:r>
            <a:endParaRPr lang="ru-RU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CustomShape 1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CustomShape 2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CustomShape 3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CustomShape 4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CustomShape 5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CustomShape 6"/>
          <p:cNvSpPr/>
          <p:nvPr/>
        </p:nvSpPr>
        <p:spPr>
          <a:xfrm>
            <a:off x="417240" y="26388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CustomShape 7"/>
          <p:cNvSpPr/>
          <p:nvPr/>
        </p:nvSpPr>
        <p:spPr>
          <a:xfrm>
            <a:off x="603720" y="735840"/>
            <a:ext cx="5889960" cy="74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Здравствуйте, меня зовут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Константин Чвилёв.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CustomShape 8"/>
          <p:cNvSpPr/>
          <p:nvPr/>
        </p:nvSpPr>
        <p:spPr>
          <a:xfrm>
            <a:off x="542520" y="1646280"/>
            <a:ext cx="5885640" cy="180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>
              <a:lnSpc>
                <a:spcPct val="130000"/>
              </a:lnSpc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34 года в IT. Программист, руководитель группы разработки, начальник службы автоматизации, наставник. Участвовал в проектировании архитектуры и разработке импортозамещения обработки платежей по банковским картам. Специализируюсь на высоконагруженных микросервисных системах, импортозамещении, асинхронной обработке и облачных решениях. Опыт работы с производством, строительством, зарубежными заказчиками.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0" name="Рисунок 41"/>
          <p:cNvPicPr/>
          <p:nvPr/>
        </p:nvPicPr>
        <p:blipFill>
          <a:blip r:embed="rId1"/>
          <a:stretch/>
        </p:blipFill>
        <p:spPr>
          <a:xfrm>
            <a:off x="7149240" y="834120"/>
            <a:ext cx="4039560" cy="5386680"/>
          </a:xfrm>
          <a:prstGeom prst="rect">
            <a:avLst/>
          </a:prstGeom>
          <a:noFill/>
          <a:ln w="0">
            <a:noFill/>
          </a:ln>
          <a:effectLst>
            <a:reflection algn="bl" blurRad="12700" dir="5400000" dist="5000" endPos="28000" rotWithShape="0" stA="38000" sy="-100000"/>
          </a:effectLst>
        </p:spPr>
      </p:pic>
      <p:sp>
        <p:nvSpPr>
          <p:cNvPr id="621" name="CustomShape 9"/>
          <p:cNvSpPr/>
          <p:nvPr/>
        </p:nvSpPr>
        <p:spPr>
          <a:xfrm>
            <a:off x="542520" y="5337360"/>
            <a:ext cx="4401360" cy="898200"/>
          </a:xfrm>
          <a:prstGeom prst="rect">
            <a:avLst/>
          </a:prstGeom>
          <a:solidFill>
            <a:srgbClr val="F2F2F2"/>
          </a:soli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CustomShape 10"/>
          <p:cNvSpPr/>
          <p:nvPr/>
        </p:nvSpPr>
        <p:spPr>
          <a:xfrm>
            <a:off x="750240" y="5449680"/>
            <a:ext cx="40914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Пишите на адрес: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CustomShape 11"/>
          <p:cNvSpPr/>
          <p:nvPr/>
        </p:nvSpPr>
        <p:spPr>
          <a:xfrm>
            <a:off x="1078200" y="5749560"/>
            <a:ext cx="1677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sng" strike="noStrike">
                <a:solidFill>
                  <a:srgbClr val="0000FF"/>
                </a:solidFill>
                <a:effectLst/>
                <a:uFill>
                  <a:solidFill>
                    <a:srgbClr val="FFFFFF"/>
                  </a:solidFill>
                </a:uFill>
                <a:latin typeface="Arial"/>
                <a:ea typeface="DejaVu Sans"/>
                <a:hlinkClick r:id="rId2"/>
              </a:rPr>
              <a:t>education@ibs.ru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CustomShape 12"/>
          <p:cNvSpPr/>
          <p:nvPr/>
        </p:nvSpPr>
        <p:spPr>
          <a:xfrm>
            <a:off x="839880" y="5862240"/>
            <a:ext cx="216720" cy="123480"/>
          </a:xfrm>
          <a:custGeom>
            <a:avLst/>
            <a:gdLst>
              <a:gd name="textAreaLeft" fmla="*/ 0 w 216720"/>
              <a:gd name="textAreaRight" fmla="*/ 217800 w 216720"/>
              <a:gd name="textAreaTop" fmla="*/ 0 h 123480"/>
              <a:gd name="textAreaBottom" fmla="*/ 124560 h 123480"/>
            </a:gdLst>
            <a:ahLst/>
            <a:cxnLst/>
            <a:rect l="textAreaLeft" t="textAreaTop" r="textAreaRight" b="textAreaBottom"/>
            <a:pathLst>
              <a:path w="288" h="165">
                <a:moveTo>
                  <a:pt x="1" y="0"/>
                </a:moveTo>
                <a:cubicBezTo>
                  <a:pt x="4" y="2"/>
                  <a:pt x="6" y="3"/>
                  <a:pt x="8" y="4"/>
                </a:cubicBezTo>
                <a:cubicBezTo>
                  <a:pt x="49" y="29"/>
                  <a:pt x="90" y="55"/>
                  <a:pt x="131" y="80"/>
                </a:cubicBezTo>
                <a:cubicBezTo>
                  <a:pt x="133" y="81"/>
                  <a:pt x="135" y="82"/>
                  <a:pt x="137" y="84"/>
                </a:cubicBezTo>
                <a:cubicBezTo>
                  <a:pt x="142" y="87"/>
                  <a:pt x="146" y="86"/>
                  <a:pt x="151" y="84"/>
                </a:cubicBezTo>
                <a:cubicBezTo>
                  <a:pt x="167" y="74"/>
                  <a:pt x="183" y="64"/>
                  <a:pt x="199" y="55"/>
                </a:cubicBezTo>
                <a:cubicBezTo>
                  <a:pt x="226" y="38"/>
                  <a:pt x="253" y="21"/>
                  <a:pt x="280" y="5"/>
                </a:cubicBezTo>
                <a:cubicBezTo>
                  <a:pt x="282" y="4"/>
                  <a:pt x="284" y="2"/>
                  <a:pt x="287" y="0"/>
                </a:cubicBezTo>
                <a:cubicBezTo>
                  <a:pt x="287" y="3"/>
                  <a:pt x="287" y="5"/>
                  <a:pt x="287" y="7"/>
                </a:cubicBezTo>
                <a:cubicBezTo>
                  <a:pt x="287" y="50"/>
                  <a:pt x="287" y="92"/>
                  <a:pt x="287" y="135"/>
                </a:cubicBezTo>
                <a:cubicBezTo>
                  <a:pt x="287" y="140"/>
                  <a:pt x="288" y="146"/>
                  <a:pt x="285" y="151"/>
                </a:cubicBezTo>
                <a:cubicBezTo>
                  <a:pt x="279" y="159"/>
                  <a:pt x="272" y="165"/>
                  <a:pt x="261" y="165"/>
                </a:cubicBezTo>
                <a:cubicBezTo>
                  <a:pt x="201" y="165"/>
                  <a:pt x="141" y="165"/>
                  <a:pt x="80" y="165"/>
                </a:cubicBezTo>
                <a:cubicBezTo>
                  <a:pt x="64" y="165"/>
                  <a:pt x="47" y="165"/>
                  <a:pt x="31" y="165"/>
                </a:cubicBezTo>
                <a:cubicBezTo>
                  <a:pt x="28" y="165"/>
                  <a:pt x="25" y="164"/>
                  <a:pt x="22" y="164"/>
                </a:cubicBezTo>
                <a:cubicBezTo>
                  <a:pt x="10" y="162"/>
                  <a:pt x="1" y="153"/>
                  <a:pt x="1" y="141"/>
                </a:cubicBezTo>
                <a:cubicBezTo>
                  <a:pt x="1" y="96"/>
                  <a:pt x="0" y="50"/>
                  <a:pt x="0" y="4"/>
                </a:cubicBezTo>
                <a:cubicBezTo>
                  <a:pt x="0" y="3"/>
                  <a:pt x="0" y="2"/>
                  <a:pt x="1" y="0"/>
                </a:cubicBezTo>
                <a:close/>
              </a:path>
            </a:pathLst>
          </a:custGeom>
          <a:solidFill>
            <a:srgbClr val="243F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CustomShape 13"/>
          <p:cNvSpPr/>
          <p:nvPr/>
        </p:nvSpPr>
        <p:spPr>
          <a:xfrm>
            <a:off x="858960" y="5845320"/>
            <a:ext cx="178560" cy="55800"/>
          </a:xfrm>
          <a:custGeom>
            <a:avLst/>
            <a:gdLst>
              <a:gd name="textAreaLeft" fmla="*/ 0 w 178560"/>
              <a:gd name="textAreaRight" fmla="*/ 179640 w 178560"/>
              <a:gd name="textAreaTop" fmla="*/ 0 h 55800"/>
              <a:gd name="textAreaBottom" fmla="*/ 56880 h 55800"/>
            </a:gdLst>
            <a:ahLst/>
            <a:cxnLst/>
            <a:rect l="textAreaLeft" t="textAreaTop" r="textAreaRight" b="textAreaBottom"/>
            <a:pathLst>
              <a:path w="238" h="76">
                <a:moveTo>
                  <a:pt x="0" y="1"/>
                </a:moveTo>
                <a:cubicBezTo>
                  <a:pt x="79" y="0"/>
                  <a:pt x="159" y="0"/>
                  <a:pt x="238" y="1"/>
                </a:cubicBezTo>
                <a:cubicBezTo>
                  <a:pt x="238" y="2"/>
                  <a:pt x="238" y="2"/>
                  <a:pt x="238" y="2"/>
                </a:cubicBezTo>
                <a:cubicBezTo>
                  <a:pt x="237" y="3"/>
                  <a:pt x="235" y="4"/>
                  <a:pt x="234" y="5"/>
                </a:cubicBezTo>
                <a:cubicBezTo>
                  <a:pt x="197" y="28"/>
                  <a:pt x="160" y="51"/>
                  <a:pt x="123" y="74"/>
                </a:cubicBezTo>
                <a:cubicBezTo>
                  <a:pt x="120" y="76"/>
                  <a:pt x="118" y="76"/>
                  <a:pt x="115" y="74"/>
                </a:cubicBezTo>
                <a:cubicBezTo>
                  <a:pt x="78" y="50"/>
                  <a:pt x="40" y="27"/>
                  <a:pt x="2" y="4"/>
                </a:cubicBezTo>
                <a:cubicBezTo>
                  <a:pt x="2" y="3"/>
                  <a:pt x="1" y="3"/>
                  <a:pt x="0" y="2"/>
                </a:cubicBezTo>
                <a:cubicBezTo>
                  <a:pt x="0" y="2"/>
                  <a:pt x="0" y="2"/>
                  <a:pt x="0" y="1"/>
                </a:cubicBezTo>
                <a:close/>
              </a:path>
            </a:pathLst>
          </a:custGeom>
          <a:solidFill>
            <a:srgbClr val="243F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9280" tIns="11880" rIns="89280" bIns="1188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CustomShape 14"/>
          <p:cNvSpPr/>
          <p:nvPr/>
        </p:nvSpPr>
        <p:spPr>
          <a:xfrm>
            <a:off x="3002400" y="5789520"/>
            <a:ext cx="1351080" cy="236160"/>
          </a:xfrm>
          <a:prstGeom prst="roundRect">
            <a:avLst>
              <a:gd name="adj" fmla="val 16667"/>
            </a:avLst>
          </a:prstGeom>
          <a:solidFill>
            <a:srgbClr val="243F90"/>
          </a:soli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ibs-training.ru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CustomShape 15"/>
          <p:cNvSpPr/>
          <p:nvPr/>
        </p:nvSpPr>
        <p:spPr>
          <a:xfrm>
            <a:off x="8468280" y="3501720"/>
            <a:ext cx="13158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Фото тренера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8" name=""/>
          <p:cNvPicPr/>
          <p:nvPr/>
        </p:nvPicPr>
        <p:blipFill>
          <a:blip r:embed="rId3"/>
          <a:stretch/>
        </p:blipFill>
        <p:spPr>
          <a:xfrm>
            <a:off x="6728400" y="72000"/>
            <a:ext cx="5077440" cy="6703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CustomShape 1"/>
          <p:cNvSpPr/>
          <p:nvPr/>
        </p:nvSpPr>
        <p:spPr>
          <a:xfrm>
            <a:off x="327240" y="720000"/>
            <a:ext cx="5889960" cy="73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Давайте познакомимся!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CustomShape 2"/>
          <p:cNvSpPr/>
          <p:nvPr/>
        </p:nvSpPr>
        <p:spPr>
          <a:xfrm>
            <a:off x="327240" y="340920"/>
            <a:ext cx="5885280" cy="18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нетворкинг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CustomShape 3"/>
          <p:cNvSpPr/>
          <p:nvPr/>
        </p:nvSpPr>
        <p:spPr>
          <a:xfrm>
            <a:off x="327240" y="1887840"/>
            <a:ext cx="5132520" cy="165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Имя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«Почему я здесь?»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Ваши ожидания от этого вебинара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CustomShape 4"/>
          <p:cNvSpPr/>
          <p:nvPr/>
        </p:nvSpPr>
        <p:spPr>
          <a:xfrm>
            <a:off x="223200" y="3730680"/>
            <a:ext cx="6094080" cy="1602360"/>
          </a:xfrm>
          <a:prstGeom prst="rect">
            <a:avLst/>
          </a:prstGeom>
          <a:solidFill>
            <a:schemeClr val="accent6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36000" rIns="72000" bIns="36000" anchor="t">
            <a:noAutofit/>
          </a:bodyPr>
          <a:p>
            <a:pPr algn="ctr">
              <a:lnSpc>
                <a:spcPct val="100000"/>
              </a:lnSpc>
            </a:pPr>
            <a:r>
              <a:rPr lang="ru-RU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ЭТУ ПЛАШКУ НУЖНО УДАЛИТЬ ПЕРЕД ДЕМОНСТРАЦИЕЙ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Время семинара ограничено, попросите ответить участников на вопросы в чате, бегло просмотрите и прокомментируйте, если ожидания не соответствуют реальности.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CustomShape 14"/>
          <p:cNvSpPr/>
          <p:nvPr/>
        </p:nvSpPr>
        <p:spPr>
          <a:xfrm>
            <a:off x="599400" y="102924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Цель и задачи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CustomShape 15"/>
          <p:cNvSpPr/>
          <p:nvPr/>
        </p:nvSpPr>
        <p:spPr>
          <a:xfrm>
            <a:off x="612720" y="1888200"/>
            <a:ext cx="1074960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Разобрать проблемы Spring Boot в облаке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Познакомить с Quarkus и родной сборкой (GraalVM)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Сравнить производительность на живом коде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Рассказать о настоящем случае из промышленной разработки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Объявить курс QRK-001«Quarkus: разработка микросервисов на Java или Kotlin»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CustomShape 14"/>
          <p:cNvSpPr/>
          <p:nvPr/>
        </p:nvSpPr>
        <p:spPr>
          <a:xfrm>
            <a:off x="612720" y="9900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Содержание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CustomShape 15"/>
          <p:cNvSpPr/>
          <p:nvPr/>
        </p:nvSpPr>
        <p:spPr>
          <a:xfrm>
            <a:off x="612720" y="1869480"/>
            <a:ext cx="1074960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Проблема долгого старта и высокого потребления памяти (Spring Boot)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Что такое Quarkus? Экосистема расширений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Родная сборка (GraalVM) – запуск за миллисекунды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Живой код: REST-сервис на Spring Boot vs Quarkus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Измерение времени запуска и памяти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Настоящий случай: обработка 1? 000 tps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Как продолжить изучение – курс QRK-001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Проблема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CustomShape 14"/>
          <p:cNvSpPr/>
          <p:nvPr/>
        </p:nvSpPr>
        <p:spPr>
          <a:xfrm>
            <a:off x="612720" y="9900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Spring Boot в облаке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CustomShape 15"/>
          <p:cNvSpPr/>
          <p:nvPr/>
        </p:nvSpPr>
        <p:spPr>
          <a:xfrm>
            <a:off x="612720" y="1869480"/>
            <a:ext cx="1074960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Логотип Quarkus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Что это: Облачно-нативный (Kubernetes-native) каркас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Ключевые возможности: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Мгновенный старт (миллисекунды)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Низкое потребление памяти (на 30–50% меньше Spring Boot)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Родная сборка через GraalVM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Более 800 расширений (Kafka, REST, Panache, Security)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Поддерживает: Java и Kotlin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Проблема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CustomShape 14"/>
          <p:cNvSpPr/>
          <p:nvPr/>
        </p:nvSpPr>
        <p:spPr>
          <a:xfrm>
            <a:off x="612720" y="9900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Spring Boot в облаке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CustomShape 15"/>
          <p:cNvSpPr/>
          <p:nvPr/>
        </p:nvSpPr>
        <p:spPr>
          <a:xfrm>
            <a:off x="612720" y="1869480"/>
            <a:ext cx="1074960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Визуализация: иконка медленного запуска, график потребления памяти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Текст: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Запуск 2–5 секунд – тормозит auto‑scaling в Kubernetes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Высокое потребление памяти – дорого в облаке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Тяжело достичь плотности развёртывания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Вывод: Нужен лёгкий, быстрый каркас для cloud‑native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CustomShape 14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CustomShape 15"/>
          <p:cNvSpPr/>
          <p:nvPr/>
        </p:nvSpPr>
        <p:spPr>
          <a:xfrm>
            <a:off x="612720" y="1488600"/>
            <a:ext cx="10749600" cy="12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8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0" y="356760"/>
            <a:ext cx="11878920" cy="5943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CustomShape 43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CustomShape 44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CustomShape 7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CustomShape 7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CustomShape 7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CustomShape 7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CustomShape 7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CustomShape 7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CustomShape 7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CustomShape 8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CustomShape 8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CustomShape 8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CustomShape 8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CustomShape 84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CustomShape 85"/>
          <p:cNvSpPr/>
          <p:nvPr/>
        </p:nvSpPr>
        <p:spPr>
          <a:xfrm>
            <a:off x="612720" y="1488600"/>
            <a:ext cx="10749600" cy="12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4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626480" y="180000"/>
            <a:ext cx="8703360" cy="648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CustomShape 17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CustomShape 18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CustomShape 19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CustomShape 20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CustomShape 21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CustomShape 22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CustomShape 23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CustomShape 24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CustomShape 25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CustomShape 26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CustomShape 27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CustomShape 28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CustomShape 29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CustomShape 86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CustomShape 87"/>
          <p:cNvSpPr/>
          <p:nvPr/>
        </p:nvSpPr>
        <p:spPr>
          <a:xfrm>
            <a:off x="612720" y="1488600"/>
            <a:ext cx="10749600" cy="12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0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20000" y="0"/>
            <a:ext cx="10800000" cy="684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CustomShape 88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CustomShape 103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CustomShape 104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CustomShape 105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CustomShape 106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CustomShape 107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CustomShape 108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CustomShape 109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CustomShape 110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CustomShape 111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1" name="CustomShape 112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CustomShape 113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CustomShape 114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CustomShape 115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CustomShape 116"/>
          <p:cNvSpPr/>
          <p:nvPr/>
        </p:nvSpPr>
        <p:spPr>
          <a:xfrm>
            <a:off x="612720" y="1488600"/>
            <a:ext cx="10749600" cy="12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6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40000" y="180000"/>
            <a:ext cx="9900000" cy="658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CustomShape 1"/>
          <p:cNvSpPr/>
          <p:nvPr/>
        </p:nvSpPr>
        <p:spPr>
          <a:xfrm>
            <a:off x="612720" y="3791880"/>
            <a:ext cx="588564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CustomShape 2"/>
          <p:cNvSpPr/>
          <p:nvPr/>
        </p:nvSpPr>
        <p:spPr>
          <a:xfrm>
            <a:off x="496440" y="2260800"/>
            <a:ext cx="5885640" cy="12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9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80000" y="25920"/>
            <a:ext cx="9359280" cy="683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2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3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41600" y="401760"/>
            <a:ext cx="10486440" cy="4961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CustomShape 30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CustomShape 31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CustomShape 32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CustomShape 33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CustomShape 34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CustomShape 35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CustomShape 36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CustomShape 37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CustomShape 38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CustomShape 39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4" name="CustomShape 40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CustomShape 41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6" name="CustomShape 42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7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96880" y="541440"/>
            <a:ext cx="9057960" cy="5914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CustomShape 60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CustomShape 61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CustomShape 62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CustomShape 63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CustomShape 64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CustomShape 65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CustomShape 66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CustomShape 67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CustomShape 68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CustomShape 69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CustomShape 70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CustomShape 71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0" name="CustomShape 72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1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55840" y="790920"/>
            <a:ext cx="9057960" cy="5343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CustomShape 45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3" name="CustomShape 46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CustomShape 47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5" name="CustomShape 48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CustomShape 49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CustomShape 50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8" name="CustomShape 51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9" name="CustomShape 52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CustomShape 53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1" name="CustomShape 54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CustomShape 55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3" name="CustomShape 56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4" name="CustomShape 57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5" name="CustomShape 58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Пример оформления кода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6" name="CustomShape 59"/>
          <p:cNvSpPr/>
          <p:nvPr/>
        </p:nvSpPr>
        <p:spPr>
          <a:xfrm>
            <a:off x="603720" y="1455840"/>
            <a:ext cx="11051640" cy="3947040"/>
          </a:xfrm>
          <a:prstGeom prst="rect">
            <a:avLst/>
          </a:prstGeom>
          <a:solidFill>
            <a:srgbClr val="FBFCFD"/>
          </a:solidFill>
          <a:ln cap="rnd" w="19080">
            <a:solidFill>
              <a:srgbClr val="9BBB59"/>
            </a:solidFill>
            <a:prstDash val="lgDash"/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122040" tIns="60840" rIns="122040" bIns="60840" anchor="ctr">
            <a:noAutofit/>
          </a:bodyPr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public final class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SimpleGrantedAuthority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implements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GrantedAuthority 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{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private final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String </a:t>
            </a:r>
            <a:r>
              <a:rPr lang="ru-RU" sz="1800" b="0" u="none" strike="noStrike">
                <a:solidFill>
                  <a:srgbClr val="871094"/>
                </a:solidFill>
                <a:effectLst/>
                <a:uFillTx/>
                <a:latin typeface="Consolas"/>
                <a:ea typeface="DejaVu Sans"/>
              </a:rPr>
              <a:t>role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;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public </a:t>
            </a:r>
            <a:r>
              <a:rPr lang="ru-RU" sz="1800" b="0" u="none" strike="noStrike">
                <a:solidFill>
                  <a:srgbClr val="00627A"/>
                </a:solidFill>
                <a:effectLst/>
                <a:uFillTx/>
                <a:latin typeface="Consolas"/>
                <a:ea typeface="DejaVu Sans"/>
              </a:rPr>
              <a:t>SimpleGrantedAuthority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(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String 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role) {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this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.</a:t>
            </a:r>
            <a:r>
              <a:rPr lang="ru-RU" sz="1800" b="0" u="none" strike="noStrike">
                <a:solidFill>
                  <a:srgbClr val="871094"/>
                </a:solidFill>
                <a:effectLst/>
                <a:uFillTx/>
                <a:latin typeface="Consolas"/>
                <a:ea typeface="DejaVu Sans"/>
              </a:rPr>
              <a:t>role 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= role;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}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9E880D"/>
                </a:solidFill>
                <a:effectLst/>
                <a:uFillTx/>
                <a:latin typeface="Consolas"/>
                <a:ea typeface="DejaVu Sans"/>
              </a:rPr>
              <a:t>@Override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9E880D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public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String </a:t>
            </a:r>
            <a:r>
              <a:rPr lang="ru-RU" sz="1800" b="0" u="none" strike="noStrike">
                <a:solidFill>
                  <a:srgbClr val="00627A"/>
                </a:solidFill>
                <a:effectLst/>
                <a:uFillTx/>
                <a:latin typeface="Consolas"/>
                <a:ea typeface="DejaVu Sans"/>
              </a:rPr>
              <a:t>getAuthority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() {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return this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.</a:t>
            </a:r>
            <a:r>
              <a:rPr lang="ru-RU" sz="1800" b="0" u="none" strike="noStrike">
                <a:solidFill>
                  <a:srgbClr val="871094"/>
                </a:solidFill>
                <a:effectLst/>
                <a:uFillTx/>
                <a:latin typeface="Consolas"/>
                <a:ea typeface="DejaVu Sans"/>
              </a:rPr>
              <a:t>role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;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}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}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9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7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Что дальше?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0" name="CustomShape 14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Материалы для самостоятельного изучения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CustomShape 15"/>
          <p:cNvSpPr/>
          <p:nvPr/>
        </p:nvSpPr>
        <p:spPr>
          <a:xfrm>
            <a:off x="600120" y="1308600"/>
            <a:ext cx="1074960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Книги/статьи/блоги/прочее</a:t>
            </a:r>
            <a:r>
              <a:rPr lang="ru-RU" sz="2000" b="1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lang="ru-RU" sz="2000" b="1" u="none" strike="noStrike">
                <a:solidFill>
                  <a:srgbClr val="FF0000"/>
                </a:solidFill>
                <a:effectLst/>
                <a:uFillTx/>
                <a:latin typeface="Arial"/>
                <a:ea typeface="DejaVu Sans"/>
              </a:rPr>
              <a:t>(выберите нужное, остальное удалите)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2" name="CustomShape 16"/>
          <p:cNvSpPr/>
          <p:nvPr/>
        </p:nvSpPr>
        <p:spPr>
          <a:xfrm>
            <a:off x="597600" y="2027880"/>
            <a:ext cx="10749600" cy="14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343080" indent="-341640">
              <a:lnSpc>
                <a:spcPct val="150000"/>
              </a:lnSpc>
              <a:buClr>
                <a:srgbClr val="243F90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Книга №1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1640">
              <a:lnSpc>
                <a:spcPct val="150000"/>
              </a:lnSpc>
              <a:buClr>
                <a:srgbClr val="243F90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Книга №2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1640">
              <a:lnSpc>
                <a:spcPct val="100000"/>
              </a:lnSpc>
              <a:buClr>
                <a:srgbClr val="243F90"/>
              </a:buClr>
              <a:buFont typeface="Wingdings" charset="2"/>
              <a:buChar char=""/>
            </a:pPr>
            <a:r>
              <a:rPr lang="ru-RU" sz="182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…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CustomShape 1"/>
          <p:cNvSpPr/>
          <p:nvPr/>
        </p:nvSpPr>
        <p:spPr>
          <a:xfrm>
            <a:off x="599040" y="2178360"/>
            <a:ext cx="7850880" cy="11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Вопросы?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4" name="CustomShape 2"/>
          <p:cNvSpPr/>
          <p:nvPr/>
        </p:nvSpPr>
        <p:spPr>
          <a:xfrm>
            <a:off x="616320" y="3730680"/>
            <a:ext cx="6094080" cy="1602360"/>
          </a:xfrm>
          <a:prstGeom prst="rect">
            <a:avLst/>
          </a:prstGeom>
          <a:solidFill>
            <a:schemeClr val="accent6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36000" rIns="72000" bIns="36000" anchor="t">
            <a:noAutofit/>
          </a:bodyPr>
          <a:p>
            <a:pPr algn="ctr">
              <a:lnSpc>
                <a:spcPct val="100000"/>
              </a:lnSpc>
            </a:pPr>
            <a:r>
              <a:rPr lang="ru-RU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ЭТУ ПЛАШКУ НУЖНО УДАЛИТЬ ПЕРЕД ДЕМОНСТРАЦИЕЙ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Оставьте 5-10 мин на вопросы по теме от аудитории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CustomShape 1"/>
          <p:cNvSpPr/>
          <p:nvPr/>
        </p:nvSpPr>
        <p:spPr>
          <a:xfrm>
            <a:off x="616320" y="3730680"/>
            <a:ext cx="6094080" cy="1602360"/>
          </a:xfrm>
          <a:prstGeom prst="rect">
            <a:avLst/>
          </a:prstGeom>
          <a:solidFill>
            <a:schemeClr val="accent6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36000" rIns="72000" bIns="36000" anchor="t">
            <a:noAutofit/>
          </a:bodyPr>
          <a:p>
            <a:pPr algn="ctr">
              <a:lnSpc>
                <a:spcPct val="100000"/>
              </a:lnSpc>
            </a:pPr>
            <a:r>
              <a:rPr lang="ru-RU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ЭТУ ПЛАШКУ НУЖНО УДАЛИТЬ ПЕРЕД ДЕМОНСТРАЦИЕЙ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Оставьте 5-10 мин на вопросы по теме от аудитории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CustomShape 2"/>
          <p:cNvSpPr/>
          <p:nvPr/>
        </p:nvSpPr>
        <p:spPr>
          <a:xfrm>
            <a:off x="599040" y="2178360"/>
            <a:ext cx="9343080" cy="65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Пожалуйста, оставьте свой отзыв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7" name="CustomShape 3"/>
          <p:cNvSpPr/>
          <p:nvPr/>
        </p:nvSpPr>
        <p:spPr>
          <a:xfrm>
            <a:off x="583200" y="2925360"/>
            <a:ext cx="6042600" cy="56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Ваше мнение очень важно для нас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CustomShape 1"/>
          <p:cNvSpPr/>
          <p:nvPr/>
        </p:nvSpPr>
        <p:spPr>
          <a:xfrm>
            <a:off x="327240" y="723240"/>
            <a:ext cx="7850880" cy="11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ОФИЦИАЛЬНЫЕ РЕСУРСЫ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CustomShape 2"/>
          <p:cNvSpPr/>
          <p:nvPr/>
        </p:nvSpPr>
        <p:spPr>
          <a:xfrm>
            <a:off x="327240" y="4712400"/>
            <a:ext cx="7293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820" b="0" u="none" strike="noStrik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Учитесь у </a:t>
            </a:r>
            <a:r>
              <a:rPr lang="ru-RU" sz="182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профессионалов – выбирайте </a:t>
            </a:r>
            <a:r>
              <a:rPr lang="ru-RU" sz="1820" b="0" u="none" strike="noStrik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IBS!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40" name="Рисунок 2"/>
          <p:cNvPicPr/>
          <p:nvPr/>
        </p:nvPicPr>
        <p:blipFill>
          <a:blip r:embed="rId1"/>
          <a:stretch/>
        </p:blipFill>
        <p:spPr>
          <a:xfrm>
            <a:off x="444240" y="2251080"/>
            <a:ext cx="2257200" cy="225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1" name="CustomShape 3"/>
          <p:cNvSpPr/>
          <p:nvPr/>
        </p:nvSpPr>
        <p:spPr>
          <a:xfrm>
            <a:off x="3133440" y="2542320"/>
            <a:ext cx="3855960" cy="11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50000"/>
              </a:lnSpc>
            </a:pPr>
            <a:r>
              <a:rPr lang="ru-RU" sz="182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Оставьте вашу обратную связь. Вы поможете нам разрабатывать лучшее обучение для вас! 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2" name="CustomShape 4"/>
          <p:cNvSpPr/>
          <p:nvPr/>
        </p:nvSpPr>
        <p:spPr>
          <a:xfrm>
            <a:off x="6733800" y="233280"/>
            <a:ext cx="5140440" cy="1602360"/>
          </a:xfrm>
          <a:prstGeom prst="rect">
            <a:avLst/>
          </a:prstGeom>
          <a:solidFill>
            <a:schemeClr val="accent6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36000" rIns="72000" bIns="36000" anchor="t">
            <a:noAutofit/>
          </a:bodyPr>
          <a:p>
            <a:pPr algn="ctr">
              <a:lnSpc>
                <a:spcPct val="100000"/>
              </a:lnSpc>
            </a:pPr>
            <a:r>
              <a:rPr lang="ru-RU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ЭТУ ПЛАШКУ НУЖНО УДАЛИТЬ ПЕРЕД ДЕМОНСТРАЦИЕЙ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Не удалять и не скрывать данный слайд, озвучить возможности для дальнейшего обучения в УЦ IBS/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30195</TotalTime>
  <Application>LibreOffice/26.2.4.2$Windows_X86_64 LibreOffice_project/0229ac93fcf0d7cbc6376066c6f35021cef002dc</Application>
  <AppVersion>15.0000</AppVersion>
  <Words>1035</Words>
  <Paragraphs>213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Селиверстова Алёна Евгеньевна</dc:creator>
  <dc:description/>
  <dc:language>ru-RU</dc:language>
  <cp:lastModifiedBy/>
  <cp:lastPrinted>2017-08-15T06:16:03Z</cp:lastPrinted>
  <dcterms:modified xsi:type="dcterms:W3CDTF">2026-06-29T09:49:17Z</dcterms:modified>
  <cp:revision>1792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LinksUpToDate">
    <vt:bool>0</vt:bool>
  </property>
  <property fmtid="{D5CDD505-2E9C-101B-9397-08002B2CF9AE}" pid="5" name="MMClips">
    <vt:i4>0</vt:i4>
  </property>
  <property fmtid="{D5CDD505-2E9C-101B-9397-08002B2CF9AE}" pid="6" name="Notes">
    <vt:i4>0</vt:i4>
  </property>
  <property fmtid="{D5CDD505-2E9C-101B-9397-08002B2CF9AE}" pid="7" name="PresentationFormat">
    <vt:lpwstr>Произвольный</vt:lpwstr>
  </property>
  <property fmtid="{D5CDD505-2E9C-101B-9397-08002B2CF9AE}" pid="8" name="ScaleCrop">
    <vt:bool>0</vt:bool>
  </property>
  <property fmtid="{D5CDD505-2E9C-101B-9397-08002B2CF9AE}" pid="9" name="ShareDoc">
    <vt:bool>0</vt:bool>
  </property>
  <property fmtid="{D5CDD505-2E9C-101B-9397-08002B2CF9AE}" pid="10" name="Slides">
    <vt:i4>14</vt:i4>
  </property>
</Properties>
</file>