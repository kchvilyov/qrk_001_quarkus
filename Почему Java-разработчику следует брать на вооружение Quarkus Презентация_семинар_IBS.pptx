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Masters/slideMaster37.xml" ContentType="application/vnd.openxmlformats-officedocument.presentationml.slideMaster+xml"/>
  <Override PartName="/ppt/slideMasters/slideMaster6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media/image16.svg" ContentType="image/svg"/>
  <Override PartName="/ppt/media/image18.svg" ContentType="image/svg"/>
  <Override PartName="/ppt/media/image20.svg" ContentType="image/svg"/>
  <Override PartName="/ppt/media/image22.svg" ContentType="image/svg"/>
  <Override PartName="/ppt/media/image24.svg" ContentType="image/sv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1" r:id="rId6"/>
    <p:sldMasterId id="2147483714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1879263" cy="6840538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50.xml"/><Relationship Id="rId7" Type="http://schemas.openxmlformats.org/officeDocument/2006/relationships/slideMaster" Target="slideMasters/slideMaster6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3.png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5B5CDAA-2641-4D04-BE83-943B7EF3112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B750AA3-FBCB-4944-A604-A3056FE6322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AD2CABF-7B56-42AC-A09D-E7D0D0E9E116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F5BAA60-95D7-4074-B1C3-CB3F222E5B2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393754C-A726-432B-A04B-3245074A2B7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4EB3F9E-86A4-42CA-A9DD-E2C07E1EF22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20B9A64-FD41-497F-B98A-0C5440505F7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3C0C146-2578-4D2B-9EEF-968095D5333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267274F-7CDA-4BEC-A0C9-00E259F48F1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45250D1-7660-492F-8689-BD64F684BC0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94CC381-B257-49C9-A316-36EFCC304A4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44B9F76-8D36-44C6-A6D7-7F0D1F069D6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81E3D4E-9765-48FA-8ACD-80D4FEF029C6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9404427-0163-42DC-87D9-9764102BF805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FD8A586-7407-4DE0-9F8A-EFA24B852108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B793D42-BFB2-48DE-9A0A-096D9D0C708F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F4098C9-CA43-4FC1-8E7F-7907128181E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1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825FA61-16B8-4ADA-B1E9-522AC87DC14F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B03CC3D-23D5-4524-8F9D-BB4DEAF391CF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7161045-4128-4EB2-8C5F-6DB82643C7F5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2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ADEA89A-C933-45EB-B980-147ACBBF57BD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7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9775EF2-436E-45B8-AFA8-1D899F64447D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3CB0516-D8C3-4685-8434-E1AF75A6BF2A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C3695F5-E387-4EC7-8124-66651752B4D9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4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DF0C279-EE64-4DBD-82E1-22D8325BD4A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4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5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642CFD6-429F-4672-8F49-8AF7F9A38D3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0931A6A-F5F2-432E-B152-07D7C00767F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CAC381A-1030-45D0-AD37-3EDA122B6F4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9A57369-98D1-42C1-8340-AE890E24DCB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B96219D-C74C-4495-A035-8949473CE7A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85FF865-A56A-417D-A78F-907C5C408A8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77EDCB0-971E-42CE-BB0E-66E88396731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1376F9B-0330-4352-B171-72E852A07F5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8BB31DA-3E5F-4EFD-AB25-7913AAF7733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D266BF9-83D6-40F2-B63B-B7DFB6F951F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C050297-4938-4F38-83B8-84060F6118F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722C5EC-5740-4188-8389-34E576AF6BC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6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0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7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0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8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5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5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3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0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3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2" name=""/>
          <p:cNvPicPr/>
          <p:nvPr/>
        </p:nvPicPr>
        <p:blipFill>
          <a:blip r:embed="rId8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3" name=""/>
          <p:cNvPicPr/>
          <p:nvPr/>
        </p:nvPicPr>
        <p:blipFill>
          <a:blip r:embed="rId9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4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5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7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8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1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2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5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6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7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9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2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6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0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4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5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9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
</Relationships>
</file>

<file path=ppt/slideMasters/_rels/slideMaster50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Relationship Id="rId9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1.xml"/>
</Relationships>
</file>

<file path=ppt/slideMasters/_rels/slideMaster62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2.xml"/><Relationship Id="rId3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5.xml"/><Relationship Id="rId6" Type="http://schemas.openxmlformats.org/officeDocument/2006/relationships/slideLayout" Target="../slideLayouts/slideLayout66.xml"/><Relationship Id="rId7" Type="http://schemas.openxmlformats.org/officeDocument/2006/relationships/slideLayout" Target="../slideLayouts/slideLayout67.xml"/><Relationship Id="rId8" Type="http://schemas.openxmlformats.org/officeDocument/2006/relationships/slideLayout" Target="../slideLayouts/slideLayout68.xml"/><Relationship Id="rId9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70.xml"/><Relationship Id="rId11" Type="http://schemas.openxmlformats.org/officeDocument/2006/relationships/slideLayout" Target="../slideLayouts/slideLayout71.xml"/><Relationship Id="rId12" Type="http://schemas.openxmlformats.org/officeDocument/2006/relationships/slideLayout" Target="../slideLayouts/slideLayout72.xml"/><Relationship Id="rId13" Type="http://schemas.openxmlformats.org/officeDocument/2006/relationships/slideLayout" Target="../slideLayouts/slideLayout7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</p:sldLayoutIdLst>
</p:sldMaster>
</file>

<file path=ppt/slideMasters/slideMaster5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</p:sldLayoutIdLst>
</p:sldMaster>
</file>

<file path=ppt/slideMasters/slideMaster6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mailto:education@ibs.ru" TargetMode="External"/><Relationship Id="rId3" Type="http://schemas.openxmlformats.org/officeDocument/2006/relationships/image" Target="../media/image14.jpeg"/><Relationship Id="rId4" Type="http://schemas.openxmlformats.org/officeDocument/2006/relationships/slideLayout" Target="../slideLayouts/slideLayout1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3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5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3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4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slideLayout" Target="../slideLayouts/slideLayout4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6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CustomShape 1"/>
          <p:cNvSpPr/>
          <p:nvPr/>
        </p:nvSpPr>
        <p:spPr>
          <a:xfrm>
            <a:off x="609120" y="2031480"/>
            <a:ext cx="7850880" cy="11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Почему Java-разработчику следует брать на вооружение Quarkus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CustomShape 2"/>
          <p:cNvSpPr/>
          <p:nvPr/>
        </p:nvSpPr>
        <p:spPr>
          <a:xfrm>
            <a:off x="609120" y="3528360"/>
            <a:ext cx="7850880" cy="47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34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9 июня 2026 г.</a:t>
            </a:r>
            <a:endParaRPr lang="ru-RU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CustomShape 1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CustomShape 2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CustomShape 3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CustomShape 4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CustomShape 5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CustomShape 6"/>
          <p:cNvSpPr/>
          <p:nvPr/>
        </p:nvSpPr>
        <p:spPr>
          <a:xfrm>
            <a:off x="417240" y="26388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CustomShape 7"/>
          <p:cNvSpPr/>
          <p:nvPr/>
        </p:nvSpPr>
        <p:spPr>
          <a:xfrm>
            <a:off x="603720" y="735840"/>
            <a:ext cx="5889960" cy="74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Здравствуйте, меня зовут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Константин Чвилёв.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CustomShape 8"/>
          <p:cNvSpPr/>
          <p:nvPr/>
        </p:nvSpPr>
        <p:spPr>
          <a:xfrm>
            <a:off x="542520" y="1646280"/>
            <a:ext cx="5885640" cy="180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34 года в IT. Программист, руководитель группы разработки, начальник службы автоматизации, наставник. Участвовал в проектировании архитектуры и разработке импортозамещения обработки платежей по банковским картам. Специализируюсь на высоконагруженных микросервисных системах, импортозамещении, асинхронной обработке и облачных решениях. Опыт работы с производством, строительством, зарубежными заказчиками.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5" name="Рисунок 41"/>
          <p:cNvPicPr/>
          <p:nvPr/>
        </p:nvPicPr>
        <p:blipFill>
          <a:blip r:embed="rId1"/>
          <a:stretch/>
        </p:blipFill>
        <p:spPr>
          <a:xfrm>
            <a:off x="7149240" y="834120"/>
            <a:ext cx="4039560" cy="5386680"/>
          </a:xfrm>
          <a:prstGeom prst="rect">
            <a:avLst/>
          </a:prstGeom>
          <a:noFill/>
          <a:ln w="0">
            <a:noFill/>
          </a:ln>
          <a:effectLst>
            <a:reflection algn="bl" blurRad="12700" dir="5400000" dist="5000" endPos="28000" rotWithShape="0" stA="38000" sy="-100000"/>
          </a:effectLst>
        </p:spPr>
      </p:pic>
      <p:sp>
        <p:nvSpPr>
          <p:cNvPr id="616" name="CustomShape 9"/>
          <p:cNvSpPr/>
          <p:nvPr/>
        </p:nvSpPr>
        <p:spPr>
          <a:xfrm>
            <a:off x="542520" y="5337360"/>
            <a:ext cx="4401360" cy="898200"/>
          </a:xfrm>
          <a:prstGeom prst="rect">
            <a:avLst/>
          </a:prstGeom>
          <a:solidFill>
            <a:srgbClr val="F2F2F2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CustomShape 10"/>
          <p:cNvSpPr/>
          <p:nvPr/>
        </p:nvSpPr>
        <p:spPr>
          <a:xfrm>
            <a:off x="750240" y="5449680"/>
            <a:ext cx="40914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Пишите на адрес: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CustomShape 11"/>
          <p:cNvSpPr/>
          <p:nvPr/>
        </p:nvSpPr>
        <p:spPr>
          <a:xfrm>
            <a:off x="1078200" y="5749560"/>
            <a:ext cx="1677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sng" strike="noStrike">
                <a:solidFill>
                  <a:srgbClr val="0000FF"/>
                </a:solidFill>
                <a:effectLst/>
                <a:uFill>
                  <a:solidFill>
                    <a:srgbClr val="FFFFFF"/>
                  </a:solidFill>
                </a:uFill>
                <a:latin typeface="Arial"/>
                <a:ea typeface="DejaVu Sans"/>
                <a:hlinkClick r:id="rId2"/>
              </a:rPr>
              <a:t>education@ibs.ru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CustomShape 12"/>
          <p:cNvSpPr/>
          <p:nvPr/>
        </p:nvSpPr>
        <p:spPr>
          <a:xfrm>
            <a:off x="839880" y="5862240"/>
            <a:ext cx="216720" cy="123480"/>
          </a:xfrm>
          <a:custGeom>
            <a:avLst/>
            <a:gdLst>
              <a:gd name="textAreaLeft" fmla="*/ 0 w 216720"/>
              <a:gd name="textAreaRight" fmla="*/ 217800 w 216720"/>
              <a:gd name="textAreaTop" fmla="*/ 0 h 123480"/>
              <a:gd name="textAreaBottom" fmla="*/ 124560 h 123480"/>
            </a:gdLst>
            <a:ahLst/>
            <a:cxnLst/>
            <a:rect l="textAreaLeft" t="textAreaTop" r="textAreaRight" b="textAreaBottom"/>
            <a:pathLst>
              <a:path w="288" h="165">
                <a:moveTo>
                  <a:pt x="1" y="0"/>
                </a:moveTo>
                <a:cubicBezTo>
                  <a:pt x="4" y="2"/>
                  <a:pt x="6" y="3"/>
                  <a:pt x="8" y="4"/>
                </a:cubicBezTo>
                <a:cubicBezTo>
                  <a:pt x="49" y="29"/>
                  <a:pt x="90" y="55"/>
                  <a:pt x="131" y="80"/>
                </a:cubicBezTo>
                <a:cubicBezTo>
                  <a:pt x="133" y="81"/>
                  <a:pt x="135" y="82"/>
                  <a:pt x="137" y="84"/>
                </a:cubicBezTo>
                <a:cubicBezTo>
                  <a:pt x="142" y="87"/>
                  <a:pt x="146" y="86"/>
                  <a:pt x="151" y="84"/>
                </a:cubicBezTo>
                <a:cubicBezTo>
                  <a:pt x="167" y="74"/>
                  <a:pt x="183" y="64"/>
                  <a:pt x="199" y="55"/>
                </a:cubicBezTo>
                <a:cubicBezTo>
                  <a:pt x="226" y="38"/>
                  <a:pt x="253" y="21"/>
                  <a:pt x="280" y="5"/>
                </a:cubicBezTo>
                <a:cubicBezTo>
                  <a:pt x="282" y="4"/>
                  <a:pt x="284" y="2"/>
                  <a:pt x="287" y="0"/>
                </a:cubicBezTo>
                <a:cubicBezTo>
                  <a:pt x="287" y="3"/>
                  <a:pt x="287" y="5"/>
                  <a:pt x="287" y="7"/>
                </a:cubicBezTo>
                <a:cubicBezTo>
                  <a:pt x="287" y="50"/>
                  <a:pt x="287" y="92"/>
                  <a:pt x="287" y="135"/>
                </a:cubicBezTo>
                <a:cubicBezTo>
                  <a:pt x="287" y="140"/>
                  <a:pt x="288" y="146"/>
                  <a:pt x="285" y="151"/>
                </a:cubicBezTo>
                <a:cubicBezTo>
                  <a:pt x="279" y="159"/>
                  <a:pt x="272" y="165"/>
                  <a:pt x="261" y="165"/>
                </a:cubicBezTo>
                <a:cubicBezTo>
                  <a:pt x="201" y="165"/>
                  <a:pt x="141" y="165"/>
                  <a:pt x="80" y="165"/>
                </a:cubicBezTo>
                <a:cubicBezTo>
                  <a:pt x="64" y="165"/>
                  <a:pt x="47" y="165"/>
                  <a:pt x="31" y="165"/>
                </a:cubicBezTo>
                <a:cubicBezTo>
                  <a:pt x="28" y="165"/>
                  <a:pt x="25" y="164"/>
                  <a:pt x="22" y="164"/>
                </a:cubicBezTo>
                <a:cubicBezTo>
                  <a:pt x="10" y="162"/>
                  <a:pt x="1" y="153"/>
                  <a:pt x="1" y="141"/>
                </a:cubicBezTo>
                <a:cubicBezTo>
                  <a:pt x="1" y="96"/>
                  <a:pt x="0" y="50"/>
                  <a:pt x="0" y="4"/>
                </a:cubicBezTo>
                <a:cubicBezTo>
                  <a:pt x="0" y="3"/>
                  <a:pt x="0" y="2"/>
                  <a:pt x="1" y="0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CustomShape 13"/>
          <p:cNvSpPr/>
          <p:nvPr/>
        </p:nvSpPr>
        <p:spPr>
          <a:xfrm>
            <a:off x="858960" y="5845320"/>
            <a:ext cx="178560" cy="55800"/>
          </a:xfrm>
          <a:custGeom>
            <a:avLst/>
            <a:gdLst>
              <a:gd name="textAreaLeft" fmla="*/ 0 w 178560"/>
              <a:gd name="textAreaRight" fmla="*/ 179640 w 178560"/>
              <a:gd name="textAreaTop" fmla="*/ 0 h 55800"/>
              <a:gd name="textAreaBottom" fmla="*/ 56880 h 55800"/>
            </a:gdLst>
            <a:ahLst/>
            <a:cxnLst/>
            <a:rect l="textAreaLeft" t="textAreaTop" r="textAreaRight" b="textAreaBottom"/>
            <a:pathLst>
              <a:path w="238" h="76">
                <a:moveTo>
                  <a:pt x="0" y="1"/>
                </a:moveTo>
                <a:cubicBezTo>
                  <a:pt x="79" y="0"/>
                  <a:pt x="159" y="0"/>
                  <a:pt x="238" y="1"/>
                </a:cubicBezTo>
                <a:cubicBezTo>
                  <a:pt x="238" y="2"/>
                  <a:pt x="238" y="2"/>
                  <a:pt x="238" y="2"/>
                </a:cubicBezTo>
                <a:cubicBezTo>
                  <a:pt x="237" y="3"/>
                  <a:pt x="235" y="4"/>
                  <a:pt x="234" y="5"/>
                </a:cubicBezTo>
                <a:cubicBezTo>
                  <a:pt x="197" y="28"/>
                  <a:pt x="160" y="51"/>
                  <a:pt x="123" y="74"/>
                </a:cubicBezTo>
                <a:cubicBezTo>
                  <a:pt x="120" y="76"/>
                  <a:pt x="118" y="76"/>
                  <a:pt x="115" y="74"/>
                </a:cubicBezTo>
                <a:cubicBezTo>
                  <a:pt x="78" y="50"/>
                  <a:pt x="40" y="27"/>
                  <a:pt x="2" y="4"/>
                </a:cubicBezTo>
                <a:cubicBezTo>
                  <a:pt x="2" y="3"/>
                  <a:pt x="1" y="3"/>
                  <a:pt x="0" y="2"/>
                </a:cubicBezTo>
                <a:cubicBezTo>
                  <a:pt x="0" y="2"/>
                  <a:pt x="0" y="2"/>
                  <a:pt x="0" y="1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9280" tIns="11880" rIns="89280" bIns="1188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CustomShape 14"/>
          <p:cNvSpPr/>
          <p:nvPr/>
        </p:nvSpPr>
        <p:spPr>
          <a:xfrm>
            <a:off x="3002400" y="5789520"/>
            <a:ext cx="1351080" cy="236160"/>
          </a:xfrm>
          <a:prstGeom prst="roundRect">
            <a:avLst>
              <a:gd name="adj" fmla="val 16667"/>
            </a:avLst>
          </a:prstGeom>
          <a:solidFill>
            <a:srgbClr val="243F90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ibs-training.ru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CustomShape 15"/>
          <p:cNvSpPr/>
          <p:nvPr/>
        </p:nvSpPr>
        <p:spPr>
          <a:xfrm>
            <a:off x="8468280" y="3501720"/>
            <a:ext cx="13158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Фото тренера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3" name=""/>
          <p:cNvPicPr/>
          <p:nvPr/>
        </p:nvPicPr>
        <p:blipFill>
          <a:blip r:embed="rId3"/>
          <a:stretch/>
        </p:blipFill>
        <p:spPr>
          <a:xfrm>
            <a:off x="6728400" y="72000"/>
            <a:ext cx="5077440" cy="670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CustomShape 1"/>
          <p:cNvSpPr/>
          <p:nvPr/>
        </p:nvSpPr>
        <p:spPr>
          <a:xfrm>
            <a:off x="327240" y="720000"/>
            <a:ext cx="588996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Давайте познакомимся!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CustomShape 2"/>
          <p:cNvSpPr/>
          <p:nvPr/>
        </p:nvSpPr>
        <p:spPr>
          <a:xfrm>
            <a:off x="327240" y="340920"/>
            <a:ext cx="5885280" cy="18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нетворкинг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3"/>
          <p:cNvSpPr/>
          <p:nvPr/>
        </p:nvSpPr>
        <p:spPr>
          <a:xfrm>
            <a:off x="327240" y="1887840"/>
            <a:ext cx="5132520" cy="16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Имя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«Почему я здесь?»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Ваши ожидания от этого вебинара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CustomShape 4"/>
          <p:cNvSpPr/>
          <p:nvPr/>
        </p:nvSpPr>
        <p:spPr>
          <a:xfrm>
            <a:off x="223200" y="3730680"/>
            <a:ext cx="6094080" cy="16023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Время семинара ограничено, попросите ответить участников на вопросы в чате, бегло просмотрите и прокомментируйте, если ожидания не соответствуют реальности.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CustomShape 14"/>
          <p:cNvSpPr/>
          <p:nvPr/>
        </p:nvSpPr>
        <p:spPr>
          <a:xfrm>
            <a:off x="599400" y="102924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Цель и задачи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CustomShape 15"/>
          <p:cNvSpPr/>
          <p:nvPr/>
        </p:nvSpPr>
        <p:spPr>
          <a:xfrm>
            <a:off x="612720" y="188820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Разобрать проблемы Spring Boot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Познакомить с Quarkus и родной сборкой (GraalVM)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Сравнить производительность на живом коде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Рассказать о настоящем случае из промышленной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Объявить курс QRK-001«Quarkus: разработка микросервисов на Java или Kotlin»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Содержание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Проблема долгого старта и высокого потребления памяти (Spring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такое Quarkus? Экосистема расширений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(GraalVM) – запуск за миллисекунды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Живой код: REST-сервис на Spring Boot vs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Измерение времени запуска и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Настоящий случай: обработка 1? 000 tps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Как продолжить изучение – курс QRK-001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Логотип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это: Облачно-нативный (Kubernetes-native) каркас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Ключевые возможности: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Мгновенный старт (миллисекунды)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Низкое потребление памяти (на 30–50% меньше 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через GraalVM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Более 800 расширений (Kafka, REST, Panache, Security)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Поддерживает: Java и Kotlin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Визуализация: иконка медленного запуска, график потребления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Текст: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Запуск 2–5 секунд – тормозит auto‑scaling в Kubernetes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Высокое потребление памяти – дорого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Тяжело достичь плотности развёртывания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Вывод: Нужен лёгкий, быстрый каркас для cloud‑native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CustomShape 1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CustomShape 15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3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18040" y="0"/>
            <a:ext cx="9120240" cy="666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CustomShape 1"/>
          <p:cNvSpPr/>
          <p:nvPr/>
        </p:nvSpPr>
        <p:spPr>
          <a:xfrm>
            <a:off x="612720" y="3791880"/>
            <a:ext cx="58856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CustomShape 2"/>
          <p:cNvSpPr/>
          <p:nvPr/>
        </p:nvSpPr>
        <p:spPr>
          <a:xfrm>
            <a:off x="496440" y="2260800"/>
            <a:ext cx="5885640" cy="12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80000" y="25920"/>
            <a:ext cx="9359280" cy="683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1600" y="401760"/>
            <a:ext cx="10486440" cy="4961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CustomShape 30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CustomShape 31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CustomShape 32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CustomShape 33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CustomShape 34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CustomShape 35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CustomShape 36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CustomShape 37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CustomShape 38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ustomShape 39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CustomShape 40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CustomShape 41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CustomShape 42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4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96880" y="541440"/>
            <a:ext cx="9057960" cy="5914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CustomShape 60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CustomShape 61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CustomShape 62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CustomShape 63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CustomShape 64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CustomShape 65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CustomShape 66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CustomShape 67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CustomShape 68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CustomShape 69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CustomShape 70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CustomShape 71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CustomShape 72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55840" y="790920"/>
            <a:ext cx="9057960" cy="5343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CustomShape 45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CustomShape 46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CustomShape 47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CustomShape 48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CustomShape 49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CustomShape 50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CustomShape 51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CustomShape 52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CustomShape 53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CustomShape 54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CustomShape 55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CustomShape 56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CustomShape 57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CustomShape 58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Пример оформления кода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CustomShape 59"/>
          <p:cNvSpPr/>
          <p:nvPr/>
        </p:nvSpPr>
        <p:spPr>
          <a:xfrm>
            <a:off x="603720" y="1455840"/>
            <a:ext cx="11051640" cy="3947040"/>
          </a:xfrm>
          <a:prstGeom prst="rect">
            <a:avLst/>
          </a:prstGeom>
          <a:solidFill>
            <a:srgbClr val="FBFCFD"/>
          </a:solidFill>
          <a:ln cap="rnd" w="19080">
            <a:solidFill>
              <a:srgbClr val="9BBB59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122040" tIns="60840" rIns="122040" bIns="60840" anchor="ctr">
            <a:noAutofit/>
          </a:bodyPr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final class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SimpleGrantedAuthority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implements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GrantedAuthority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private final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SimpleGrantedAuthority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role)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= role;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@Override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getAuthority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return 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Что дальше?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CustomShape 1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для самостоятельного изучения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CustomShape 15"/>
          <p:cNvSpPr/>
          <p:nvPr/>
        </p:nvSpPr>
        <p:spPr>
          <a:xfrm>
            <a:off x="600120" y="1308600"/>
            <a:ext cx="1074960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Книги/статьи/блоги/прочее</a:t>
            </a:r>
            <a:r>
              <a:rPr lang="ru-RU" sz="2000" b="1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ru-RU" sz="20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(выберите нужное, остальное удалите)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CustomShape 16"/>
          <p:cNvSpPr/>
          <p:nvPr/>
        </p:nvSpPr>
        <p:spPr>
          <a:xfrm>
            <a:off x="597600" y="2027880"/>
            <a:ext cx="10749600" cy="14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343080" indent="-341640">
              <a:lnSpc>
                <a:spcPct val="15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Книга №1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1640">
              <a:lnSpc>
                <a:spcPct val="15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Книга №2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1640">
              <a:lnSpc>
                <a:spcPct val="10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182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…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CustomShape 1"/>
          <p:cNvSpPr/>
          <p:nvPr/>
        </p:nvSpPr>
        <p:spPr>
          <a:xfrm>
            <a:off x="599040" y="2178360"/>
            <a:ext cx="7850880" cy="11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Вопросы?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CustomShape 2"/>
          <p:cNvSpPr/>
          <p:nvPr/>
        </p:nvSpPr>
        <p:spPr>
          <a:xfrm>
            <a:off x="616320" y="3730680"/>
            <a:ext cx="6094080" cy="16023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5-10 мин на вопросы по теме от аудитории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CustomShape 1"/>
          <p:cNvSpPr/>
          <p:nvPr/>
        </p:nvSpPr>
        <p:spPr>
          <a:xfrm>
            <a:off x="616320" y="3730680"/>
            <a:ext cx="6094080" cy="16023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5-10 мин на вопросы по теме от аудитории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CustomShape 2"/>
          <p:cNvSpPr/>
          <p:nvPr/>
        </p:nvSpPr>
        <p:spPr>
          <a:xfrm>
            <a:off x="599040" y="2178360"/>
            <a:ext cx="9343080" cy="65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Пожалуйста, оставьте свой отзыв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CustomShape 3"/>
          <p:cNvSpPr/>
          <p:nvPr/>
        </p:nvSpPr>
        <p:spPr>
          <a:xfrm>
            <a:off x="583200" y="2925360"/>
            <a:ext cx="6042600" cy="56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Ваше мнение очень важно для нас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CustomShape 1"/>
          <p:cNvSpPr/>
          <p:nvPr/>
        </p:nvSpPr>
        <p:spPr>
          <a:xfrm>
            <a:off x="327240" y="723240"/>
            <a:ext cx="7850880" cy="11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ОФИЦИАЛЬНЫЕ РЕСУРСЫ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CustomShape 2"/>
          <p:cNvSpPr/>
          <p:nvPr/>
        </p:nvSpPr>
        <p:spPr>
          <a:xfrm>
            <a:off x="327240" y="4712400"/>
            <a:ext cx="7293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Учитесь у </a:t>
            </a: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профессионалов – выбирайте </a:t>
            </a: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IBS!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7" name="Рисунок 2"/>
          <p:cNvPicPr/>
          <p:nvPr/>
        </p:nvPicPr>
        <p:blipFill>
          <a:blip r:embed="rId1"/>
          <a:stretch/>
        </p:blipFill>
        <p:spPr>
          <a:xfrm>
            <a:off x="444240" y="2251080"/>
            <a:ext cx="2257200" cy="22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8" name="CustomShape 3"/>
          <p:cNvSpPr/>
          <p:nvPr/>
        </p:nvSpPr>
        <p:spPr>
          <a:xfrm>
            <a:off x="3133440" y="2542320"/>
            <a:ext cx="38559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50000"/>
              </a:lnSpc>
            </a:pP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вашу обратную связь. Вы поможете нам разрабатывать лучшее обучение для вас! 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CustomShape 4"/>
          <p:cNvSpPr/>
          <p:nvPr/>
        </p:nvSpPr>
        <p:spPr>
          <a:xfrm>
            <a:off x="6733800" y="233280"/>
            <a:ext cx="5140440" cy="16023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Не удалять и не скрывать данный слайд, озвучить возможности для дальнейшего обучения в УЦ IBS/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29425</TotalTime>
  <Application>LibreOffice/26.2.4.2$Windows_X86_64 LibreOffice_project/0229ac93fcf0d7cbc6376066c6f35021cef002dc</Application>
  <AppVersion>15.0000</AppVersion>
  <Words>1035</Words>
  <Paragraphs>213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Селиверстова Алёна Евгеньевна</dc:creator>
  <dc:description/>
  <dc:language>ru-RU</dc:language>
  <cp:lastModifiedBy/>
  <cp:lastPrinted>2017-08-15T06:16:03Z</cp:lastPrinted>
  <dcterms:modified xsi:type="dcterms:W3CDTF">2026-06-28T19:41:03Z</dcterms:modified>
  <cp:revision>1783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Произвольный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14</vt:i4>
  </property>
</Properties>
</file>